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c34e2d8b6524bbb" /><Relationship Type="http://schemas.openxmlformats.org/package/2006/relationships/metadata/core-properties" Target="/docProps/core.xml" Id="Rac19ebd69eea40d1" /><Relationship Type="http://schemas.openxmlformats.org/officeDocument/2006/relationships/extended-properties" Target="/docProps/app.xml" Id="R4e5a21a172f84b9b" /><Relationship Type="http://schemas.openxmlformats.org/officeDocument/2006/relationships/custom-properties" Target="/docProps/custom.xml" Id="R824cc777b80144c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85a32c5f8064201"/>
    <p:sldId id="257" r:id="R27bb8e6fb3ec405a"/>
    <p:sldId id="258" r:id="R89d51c4dfc2f469e"/>
    <p:sldId id="259" r:id="R6387910e85de41ce"/>
    <p:sldId id="260" r:id="Ra90aee20bd4d4a26"/>
    <p:sldId id="261" r:id="Ra1563ea452ff4426"/>
    <p:sldId id="262" r:id="Rb17fb9ae80c848aa"/>
    <p:sldId id="263" r:id="Re37bd412168c4c65"/>
    <p:sldId id="264" r:id="R07d0aef4cc7b46c0"/>
    <p:sldId id="265" r:id="R7a6f8c0264b140d2"/>
    <p:sldId id="266" r:id="R3e6f9192127c4614"/>
    <p:sldId id="267" r:id="R6bcdbe1a2673438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85a32c5f8064201" /><Relationship Type="http://schemas.openxmlformats.org/officeDocument/2006/relationships/slide" Target="/ppt/slides/slide2.xml" Id="R27bb8e6fb3ec405a" /><Relationship Type="http://schemas.openxmlformats.org/officeDocument/2006/relationships/slide" Target="/ppt/slides/slide3.xml" Id="R89d51c4dfc2f469e" /><Relationship Type="http://schemas.openxmlformats.org/officeDocument/2006/relationships/slide" Target="/ppt/slides/slide4.xml" Id="R6387910e85de41ce" /><Relationship Type="http://schemas.openxmlformats.org/officeDocument/2006/relationships/slide" Target="/ppt/slides/slide5.xml" Id="Ra90aee20bd4d4a26" /><Relationship Type="http://schemas.openxmlformats.org/officeDocument/2006/relationships/slide" Target="/ppt/slides/slide6.xml" Id="Ra1563ea452ff4426" /><Relationship Type="http://schemas.openxmlformats.org/officeDocument/2006/relationships/slide" Target="/ppt/slides/slide7.xml" Id="Rb17fb9ae80c848aa" /><Relationship Type="http://schemas.openxmlformats.org/officeDocument/2006/relationships/slide" Target="/ppt/slides/slide8.xml" Id="Re37bd412168c4c65" /><Relationship Type="http://schemas.openxmlformats.org/officeDocument/2006/relationships/slide" Target="/ppt/slides/slide9.xml" Id="R07d0aef4cc7b46c0" /><Relationship Type="http://schemas.openxmlformats.org/officeDocument/2006/relationships/slide" Target="/ppt/slides/slide10.xml" Id="R7a6f8c0264b140d2" /><Relationship Type="http://schemas.openxmlformats.org/officeDocument/2006/relationships/slide" Target="/ppt/slides/slide11.xml" Id="R3e6f9192127c4614" /><Relationship Type="http://schemas.openxmlformats.org/officeDocument/2006/relationships/slide" Target="/ppt/slides/slide12.xml" Id="R6bcdbe1a2673438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1a2cddc9545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cf15cfae84b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97fd1f0ad4b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2b32a962049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cbd29cfe04f2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7bb7be6326149e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baa2248024f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d59dcb66d41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2ba27ffc641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9ce7a1df64b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7672465c04e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28660695d4e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63c3ab6064a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83f646d414c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8390204a941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871fe23ac4c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5528cd00841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e826e82ba4cb2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792000"/>
            <a:ext cx="720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6400" b="1">
                <a:solidFill>
                  <a:srgbClr val="7F5AF0"/>
                </a:solidFill>
                <a:latin typeface="JetBrains Mono"/>
                <a:ea typeface="JetBrains Mono"/>
              </a:rPr>
              <a:t>SSH PAD TERMINAL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1620000"/>
            <a:ext cx="72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FFFFFE"/>
                </a:solidFill>
                <a:latin typeface="Inter"/>
                <a:ea typeface="Inter"/>
              </a:rPr>
              <a:t>Android 平板原生 SSH 客户端 · 中文 IME 真·可用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3060000" y="2232000"/>
            <a:ext cx="2340000" cy="288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7F5AF0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E"/>
                </a:solidFill>
                <a:latin typeface="JetBrains Mono"/>
                <a:ea typeface="JetBrains Mono"/>
              </a:rPr>
              <a:t>Sprint 2 完成 · v1.0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0000" y="2952000"/>
            <a:ext cx="72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6E7681"/>
                </a:solidFill>
                <a:latin typeface="JetBrains Mono"/>
                <a:ea typeface="JetBrains Mono"/>
              </a:rPr>
              <a:t>st6098770633 · 2026-06-24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3780000" y="1980000"/>
            <a:ext cx="900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360000" y="288000"/>
            <a:ext cx="28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01 · PROBLEM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360000" y="504000"/>
            <a:ext cx="79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E"/>
                </a:solidFill>
                <a:latin typeface="Inter"/>
                <a:ea typeface="Inter"/>
              </a:rPr>
              <a:t>平板 + 中文 IME，主流 SSH 工具集体翻车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360000" y="972000"/>
            <a:ext cx="79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1B2"/>
                </a:solidFill>
                <a:latin typeface="Inter"/>
                <a:ea typeface="Inter"/>
              </a:rPr>
              <a:t>Termius、Termux 等在 Android 平板上用中文拼音，五个长期被忽视的边角问题：</a:t>
            </a:r>
          </a:p>
        </p:txBody>
      </p:sp>
      <p:sp>
        <p:nvSpPr>
          <p:cNvPr id="100008" name="TextBox 4"/>
          <p:cNvSpPr/>
          <p:nvPr/>
        </p:nvSpPr>
        <p:spPr>
          <a:xfrm>
            <a:off x="964800" y="1368000"/>
            <a:ext cx="5040000" cy="13680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6350">
            <a:solidFill>
              <a:srgbClr val="2A2A35"/>
            </a:solidFill>
          </a:ln>
        </p:spPr>
        <p:txBody>
          <a:bodyPr>
            <a:normAutofit/>
          </a:bodyPr>
          <a:lstStyle/>
          <a:p/>
        </p:txBody>
      </p:sp>
      <p:sp>
        <p:nvSpPr>
          <p:cNvPr id="100009" name="TextBox 5"/>
          <p:cNvSpPr txBox="1"/>
          <p:nvPr/>
        </p:nvSpPr>
        <p:spPr>
          <a:xfrm>
            <a:off x="1080000" y="1440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500" b="1">
                <a:solidFill>
                  <a:srgbClr val="FF6B6B"/>
                </a:solidFill>
                <a:latin typeface="JetBrains Mono"/>
                <a:ea typeface="JetBrains Mono"/>
              </a:rPr>
              <a:t>InputType.TYPE_NULL</a:t>
            </a:r>
          </a:p>
        </p:txBody>
      </p:sp>
      <p:sp>
        <p:nvSpPr>
          <p:cNvPr id="100010" name="TextBox 6"/>
          <p:cNvSpPr txBox="1"/>
          <p:nvPr/>
        </p:nvSpPr>
        <p:spPr>
          <a:xfrm>
            <a:off x="1080000" y="1692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>
                <a:solidFill>
                  <a:srgbClr val="FFFFFE"/>
                </a:solidFill>
                <a:latin typeface="Inter"/>
                <a:ea typeface="Inter"/>
              </a:rPr>
              <a:t>IME 候选词、拼音删除、光标移动全废</a:t>
            </a:r>
          </a:p>
        </p:txBody>
      </p:sp>
      <p:sp>
        <p:nvSpPr>
          <p:cNvPr id="100011" name="TextBox 7"/>
          <p:cNvSpPr txBox="1"/>
          <p:nvPr/>
        </p:nvSpPr>
        <p:spPr>
          <a:xfrm>
            <a:off x="1080000" y="1944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→ 用户看不到拼音候选条，按方向键无效</a:t>
            </a:r>
          </a:p>
        </p:txBody>
      </p:sp>
      <p:sp>
        <p:nvSpPr>
          <p:cNvPr id="100012" name="TextBox 8"/>
          <p:cNvSpPr/>
          <p:nvPr/>
        </p:nvSpPr>
        <p:spPr>
          <a:xfrm>
            <a:off x="6184800" y="1368000"/>
            <a:ext cx="5040000" cy="13680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6350">
            <a:solidFill>
              <a:srgbClr val="2A2A35"/>
            </a:solidFill>
          </a:ln>
        </p:spPr>
        <p:txBody>
          <a:bodyPr>
            <a:normAutofit/>
          </a:bodyPr>
          <a:lstStyle/>
          <a:p/>
        </p:txBody>
      </p:sp>
      <p:sp>
        <p:nvSpPr>
          <p:cNvPr id="100013" name="TextBox 9"/>
          <p:cNvSpPr txBox="1"/>
          <p:nvPr/>
        </p:nvSpPr>
        <p:spPr>
          <a:xfrm>
            <a:off x="6300000" y="1440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500" b="1">
                <a:solidFill>
                  <a:srgbClr val="FF6B6B"/>
                </a:solidFill>
                <a:latin typeface="JetBrains Mono"/>
                <a:ea typeface="JetBrains Mono"/>
              </a:rPr>
              <a:t>NO_SUGGESTIONS 一刀切</a:t>
            </a:r>
          </a:p>
        </p:txBody>
      </p:sp>
      <p:sp>
        <p:nvSpPr>
          <p:cNvPr id="100014" name="TextBox 10"/>
          <p:cNvSpPr txBox="1"/>
          <p:nvPr/>
        </p:nvSpPr>
        <p:spPr>
          <a:xfrm>
            <a:off x="6300000" y="1692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>
                <a:solidFill>
                  <a:srgbClr val="FFFFFE"/>
                </a:solidFill>
                <a:latin typeface="Inter"/>
                <a:ea typeface="Inter"/>
              </a:rPr>
              <a:t>中文 / 日文 / 韩文候选词不显示</a:t>
            </a:r>
          </a:p>
        </p:txBody>
      </p:sp>
      <p:sp>
        <p:nvSpPr>
          <p:cNvPr id="100015" name="TextBox 11"/>
          <p:cNvSpPr txBox="1"/>
          <p:nvPr/>
        </p:nvSpPr>
        <p:spPr>
          <a:xfrm>
            <a:off x="6300000" y="1944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→ 看似干净，IME 无法做拼音 composing</a:t>
            </a:r>
          </a:p>
        </p:txBody>
      </p:sp>
      <p:sp>
        <p:nvSpPr>
          <p:cNvPr id="100016" name="TextBox 12"/>
          <p:cNvSpPr/>
          <p:nvPr/>
        </p:nvSpPr>
        <p:spPr>
          <a:xfrm>
            <a:off x="964800" y="2880000"/>
            <a:ext cx="5040000" cy="13680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6350">
            <a:solidFill>
              <a:srgbClr val="2A2A35"/>
            </a:solidFill>
          </a:ln>
        </p:spPr>
        <p:txBody>
          <a:bodyPr>
            <a:normAutofit/>
          </a:bodyPr>
          <a:lstStyle/>
          <a:p/>
        </p:txBody>
      </p:sp>
      <p:sp>
        <p:nvSpPr>
          <p:cNvPr id="100017" name="TextBox 13"/>
          <p:cNvSpPr txBox="1"/>
          <p:nvPr/>
        </p:nvSpPr>
        <p:spPr>
          <a:xfrm>
            <a:off x="1080000" y="2952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500" b="1">
                <a:solidFill>
                  <a:srgbClr val="FF6B6B"/>
                </a:solidFill>
                <a:latin typeface="JetBrains Mono"/>
                <a:ea typeface="JetBrains Mono"/>
              </a:rPr>
              <a:t>物理键盘 + IME 双链路</a:t>
            </a:r>
          </a:p>
        </p:txBody>
      </p:sp>
      <p:sp>
        <p:nvSpPr>
          <p:cNvPr id="100018" name="TextBox 14"/>
          <p:cNvSpPr txBox="1"/>
          <p:nvPr/>
        </p:nvSpPr>
        <p:spPr>
          <a:xfrm>
            <a:off x="1080000" y="3204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>
                <a:solidFill>
                  <a:srgbClr val="FFFFFE"/>
                </a:solidFill>
                <a:latin typeface="Inter"/>
                <a:ea typeface="Inter"/>
              </a:rPr>
              <a:t>同一个按键被发送两次</a:t>
            </a:r>
          </a:p>
        </p:txBody>
      </p:sp>
      <p:sp>
        <p:nvSpPr>
          <p:cNvPr id="100019" name="TextBox 15"/>
          <p:cNvSpPr txBox="1"/>
          <p:nvPr/>
        </p:nvSpPr>
        <p:spPr>
          <a:xfrm>
            <a:off x="1080000" y="3456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→ 外接键盘时远端 bash 看到重复字符</a:t>
            </a:r>
          </a:p>
        </p:txBody>
      </p:sp>
      <p:sp>
        <p:nvSpPr>
          <p:cNvPr id="100020" name="TextBox 16"/>
          <p:cNvSpPr/>
          <p:nvPr/>
        </p:nvSpPr>
        <p:spPr>
          <a:xfrm>
            <a:off x="6184800" y="2880000"/>
            <a:ext cx="5040000" cy="13680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6350">
            <a:solidFill>
              <a:srgbClr val="2A2A35"/>
            </a:solidFill>
          </a:ln>
        </p:spPr>
        <p:txBody>
          <a:bodyPr>
            <a:normAutofit/>
          </a:bodyPr>
          <a:lstStyle/>
          <a:p/>
        </p:txBody>
      </p:sp>
      <p:sp>
        <p:nvSpPr>
          <p:cNvPr id="100021" name="TextBox 17"/>
          <p:cNvSpPr txBox="1"/>
          <p:nvPr/>
        </p:nvSpPr>
        <p:spPr>
          <a:xfrm>
            <a:off x="6300000" y="2952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500" b="1">
                <a:solidFill>
                  <a:srgbClr val="FF6B6B"/>
                </a:solidFill>
                <a:latin typeface="JetBrains Mono"/>
                <a:ea typeface="JetBrains Mono"/>
              </a:rPr>
              <a:t>退格键不分组合状态</a:t>
            </a:r>
          </a:p>
        </p:txBody>
      </p:sp>
      <p:sp>
        <p:nvSpPr>
          <p:cNvPr id="100022" name="TextBox 18"/>
          <p:cNvSpPr txBox="1"/>
          <p:nvPr/>
        </p:nvSpPr>
        <p:spPr>
          <a:xfrm>
            <a:off x="6300000" y="3204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>
                <a:solidFill>
                  <a:srgbClr val="FFFFFE"/>
                </a:solidFill>
                <a:latin typeface="Inter"/>
                <a:ea typeface="Inter"/>
              </a:rPr>
              <a:t>拼音中按退格会误删远端</a:t>
            </a:r>
          </a:p>
        </p:txBody>
      </p:sp>
      <p:sp>
        <p:nvSpPr>
          <p:cNvPr id="100023" name="TextBox 19"/>
          <p:cNvSpPr txBox="1"/>
          <p:nvPr/>
        </p:nvSpPr>
        <p:spPr>
          <a:xfrm>
            <a:off x="6300000" y="3456000"/>
            <a:ext cx="486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→ 拼到一半想改一个字，整个 vim 文本被吃了</a:t>
            </a:r>
          </a:p>
        </p:txBody>
      </p:sp>
      <p:sp>
        <p:nvSpPr>
          <p:cNvPr id="100024" name="TextBox 20"/>
          <p:cNvSpPr/>
          <p:nvPr/>
        </p:nvSpPr>
        <p:spPr>
          <a:xfrm>
            <a:off x="964800" y="4392000"/>
            <a:ext cx="10260000" cy="13680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6350">
            <a:solidFill>
              <a:srgbClr val="2A2A35"/>
            </a:solidFill>
          </a:ln>
        </p:spPr>
        <p:txBody>
          <a:bodyPr>
            <a:normAutofit/>
          </a:bodyPr>
          <a:lstStyle/>
          <a:p/>
        </p:txBody>
      </p:sp>
      <p:sp>
        <p:nvSpPr>
          <p:cNvPr id="100025" name="TextBox 21"/>
          <p:cNvSpPr txBox="1"/>
          <p:nvPr/>
        </p:nvSpPr>
        <p:spPr>
          <a:xfrm>
            <a:off x="1080000" y="4464000"/>
            <a:ext cx="990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500" b="1">
                <a:solidFill>
                  <a:srgbClr val="FF6B6B"/>
                </a:solidFill>
                <a:latin typeface="JetBrains Mono"/>
                <a:ea typeface="JetBrains Mono"/>
              </a:rPr>
              <a:t>取消输入（ESC）误判为提交</a:t>
            </a:r>
          </a:p>
        </p:txBody>
      </p:sp>
      <p:sp>
        <p:nvSpPr>
          <p:cNvPr id="100026" name="TextBox 22"/>
          <p:cNvSpPr txBox="1"/>
          <p:nvPr/>
        </p:nvSpPr>
        <p:spPr>
          <a:xfrm>
            <a:off x="1080000" y="4716000"/>
            <a:ext cx="990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>
                <a:solidFill>
                  <a:srgbClr val="FFFFFE"/>
                </a:solidFill>
                <a:latin typeface="Inter"/>
                <a:ea typeface="Inter"/>
              </a:rPr>
              <a:t>多余的换行 / 空格发到 SSH，远端 Vim 状态被打乱</a:t>
            </a:r>
          </a:p>
        </p:txBody>
      </p:sp>
      <p:sp>
        <p:nvSpPr>
          <p:cNvPr id="100027" name="TextBox 23"/>
          <p:cNvSpPr txBox="1"/>
          <p:nvPr/>
        </p:nvSpPr>
        <p:spPr>
          <a:xfrm>
            <a:off x="1080000" y="4968000"/>
            <a:ext cx="9900000" cy="21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→ "我想取消拼音"和"我想退出 vim"在客户端是同一个事件，但语义完全不同</a:t>
            </a:r>
          </a:p>
        </p:txBody>
      </p:sp>
      <p:sp>
        <p:nvSpPr>
          <p:cNvPr id="100028" name="TextBox 24"/>
          <p:cNvSpPr txBox="1"/>
          <p:nvPr/>
        </p:nvSpPr>
        <p:spPr>
          <a:xfrm>
            <a:off x="10440000" y="6480000"/>
            <a:ext cx="1440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en-US" sz="1000">
                <a:solidFill>
                  <a:srgbClr val="6E7681"/>
                </a:solidFill>
                <a:latin typeface="JetBrains Mono"/>
                <a:ea typeface="JetBrains Mono"/>
              </a:rPr>
              <a:t>02 / 12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029" name="TextBox 1"/>
          <p:cNvSpPr txBox="1"/>
          <p:nvPr/>
        </p:nvSpPr>
        <p:spPr>
          <a:xfrm xmlns:a="http://schemas.openxmlformats.org/drawingml/2006/main">
            <a:off x="360000" y="288000"/>
            <a:ext cx="28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CB67D"/>
                </a:solidFill>
                <a:latin typeface="JetBrains Mono"/>
                <a:ea typeface="JetBrains Mono"/>
              </a:rPr>
              <a:t>02 · GOAL</a:t>
            </a:r>
          </a:p>
        </p:txBody>
      </p:sp>
      <p:sp>
        <p:nvSpPr>
          <p:cNvPr id="100030" name="TextBox 2"/>
          <p:cNvSpPr txBox="1"/>
          <p:nvPr/>
        </p:nvSpPr>
        <p:spPr>
          <a:xfrm xmlns:a="http://schemas.openxmlformats.org/drawingml/2006/main">
            <a:off x="360000" y="504000"/>
            <a:ext cx="100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E"/>
                </a:solidFill>
                <a:latin typeface="Inter"/>
                <a:ea typeface="Inter"/>
              </a:rPr>
              <a:t>一个命题：解耦 Android IME 与终端键盘</a:t>
            </a:r>
          </a:p>
        </p:txBody>
      </p:sp>
      <p:sp>
        <p:nvSpPr>
          <p:cNvPr id="100031" name="TextBox 3"/>
          <p:cNvSpPr txBox="1"/>
          <p:nvPr/>
        </p:nvSpPr>
        <p:spPr>
          <a:xfrm xmlns:a="http://schemas.openxmlformats.org/drawingml/2006/main">
            <a:off x="360000" y="972000"/>
            <a:ext cx="10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1B2"/>
                </a:solidFill>
                <a:latin typeface="Inter"/>
                <a:ea typeface="Inter"/>
              </a:rPr>
              <a:t>让中文拼音 IME 在远程 SSH 会话里像本地输入一样工作。</a:t>
            </a:r>
          </a:p>
        </p:txBody>
      </p:sp>
      <p:sp>
        <p:nvSpPr>
          <p:cNvPr id="100032" name="TextBox 4"/>
          <p:cNvSpPr/>
          <p:nvPr/>
        </p:nvSpPr>
        <p:spPr>
          <a:xfrm xmlns:a="http://schemas.openxmlformats.org/drawingml/2006/main">
            <a:off x="540000" y="1620000"/>
            <a:ext cx="4500000" cy="324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 w="19050">
            <a:solidFill>
              <a:srgbClr val="7F5AF0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033" name="TextBox 5"/>
          <p:cNvSpPr txBox="1"/>
          <p:nvPr/>
        </p:nvSpPr>
        <p:spPr>
          <a:xfrm xmlns:a="http://schemas.openxmlformats.org/drawingml/2006/main">
            <a:off x="720000" y="1764000"/>
            <a:ext cx="43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F5AF0"/>
                </a:solidFill>
                <a:latin typeface="Inter"/>
                <a:ea typeface="Inter"/>
              </a:rPr>
              <a:t>Android IME 体系</a:t>
            </a:r>
          </a:p>
        </p:txBody>
      </p:sp>
      <p:sp>
        <p:nvSpPr>
          <p:cNvPr id="100034" name="TextBox 6"/>
          <p:cNvSpPr txBox="1"/>
          <p:nvPr/>
        </p:nvSpPr>
        <p:spPr>
          <a:xfrm xmlns:a="http://schemas.openxmlformats.org/drawingml/2006/main">
            <a:off x="720000" y="2124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InputConnection 抽象</a:t>
            </a:r>
          </a:p>
        </p:txBody>
      </p:sp>
      <p:sp>
        <p:nvSpPr>
          <p:cNvPr id="100035" name="TextBox 7"/>
          <p:cNvSpPr txBox="1"/>
          <p:nvPr/>
        </p:nvSpPr>
        <p:spPr>
          <a:xfrm xmlns:a="http://schemas.openxmlformats.org/drawingml/2006/main">
            <a:off x="720000" y="234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composingText / commitText</a:t>
            </a:r>
          </a:p>
        </p:txBody>
      </p:sp>
      <p:sp>
        <p:nvSpPr>
          <p:cNvPr id="100036" name="TextBox 8"/>
          <p:cNvSpPr txBox="1"/>
          <p:nvPr/>
        </p:nvSpPr>
        <p:spPr>
          <a:xfrm xmlns:a="http://schemas.openxmlformats.org/drawingml/2006/main">
            <a:off x="720000" y="2556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deleteSurroundingText</a:t>
            </a:r>
          </a:p>
        </p:txBody>
      </p:sp>
      <p:sp>
        <p:nvSpPr>
          <p:cNvPr id="100037" name="TextBox 9"/>
          <p:cNvSpPr txBox="1"/>
          <p:nvPr/>
        </p:nvSpPr>
        <p:spPr>
          <a:xfrm xmlns:a="http://schemas.openxmlformats.org/drawingml/2006/main">
            <a:off x="720000" y="2772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finishComposingText</a:t>
            </a:r>
          </a:p>
        </p:txBody>
      </p:sp>
      <p:sp>
        <p:nvSpPr>
          <p:cNvPr id="100038" name="TextBox 10"/>
          <p:cNvSpPr txBox="1"/>
          <p:nvPr/>
        </p:nvSpPr>
        <p:spPr>
          <a:xfrm xmlns:a="http://schemas.openxmlformats.org/drawingml/2006/main">
            <a:off x="720000" y="3132000"/>
            <a:ext cx="43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94A1B2"/>
                </a:solidFill>
                <a:latin typeface="Inter"/>
                <a:ea typeface="Inter"/>
              </a:rPr>
              <a:t>候选词、联想、撤销、IME 内部事</a:t>
            </a:r>
          </a:p>
        </p:txBody>
      </p:sp>
      <p:sp>
        <p:nvSpPr>
          <p:cNvPr id="100039" name="TextBox 11"/>
          <p:cNvSpPr txBox="1"/>
          <p:nvPr/>
        </p:nvSpPr>
        <p:spPr>
          <a:xfrm xmlns:a="http://schemas.openxmlformats.org/drawingml/2006/main">
            <a:off x="720000" y="4464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 i="1">
                <a:solidFill>
                  <a:srgbClr val="6E7681"/>
                </a:solidFill>
                <a:latin typeface="Inter"/>
                <a:ea typeface="Inter"/>
              </a:rPr>
              <a:t>「我还没决定要发什么」</a:t>
            </a:r>
          </a:p>
        </p:txBody>
      </p:sp>
      <p:sp>
        <p:nvSpPr>
          <p:cNvPr id="100040" name="TextBox 12"/>
          <p:cNvSpPr/>
          <p:nvPr/>
        </p:nvSpPr>
        <p:spPr>
          <a:xfrm xmlns:a="http://schemas.openxmlformats.org/drawingml/2006/main">
            <a:off x="7020000" y="1620000"/>
            <a:ext cx="4500000" cy="324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 w="19050">
            <a:solidFill>
              <a:srgbClr val="2CB67D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041" name="TextBox 13"/>
          <p:cNvSpPr txBox="1"/>
          <p:nvPr/>
        </p:nvSpPr>
        <p:spPr>
          <a:xfrm xmlns:a="http://schemas.openxmlformats.org/drawingml/2006/main">
            <a:off x="7200000" y="1764000"/>
            <a:ext cx="43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CB67D"/>
                </a:solidFill>
                <a:latin typeface="Inter"/>
                <a:ea typeface="Inter"/>
              </a:rPr>
              <a:t>终端键盘体系</a:t>
            </a:r>
          </a:p>
        </p:txBody>
      </p:sp>
      <p:sp>
        <p:nvSpPr>
          <p:cNvPr id="100042" name="TextBox 14"/>
          <p:cNvSpPr txBox="1"/>
          <p:nvPr/>
        </p:nvSpPr>
        <p:spPr>
          <a:xfrm xmlns:a="http://schemas.openxmlformats.org/drawingml/2006/main">
            <a:off x="7200000" y="2124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KeyEvent.onKeyDown</a:t>
            </a:r>
          </a:p>
        </p:txBody>
      </p:sp>
      <p:sp>
        <p:nvSpPr>
          <p:cNvPr id="100043" name="TextBox 15"/>
          <p:cNvSpPr txBox="1"/>
          <p:nvPr/>
        </p:nvSpPr>
        <p:spPr>
          <a:xfrm xmlns:a="http://schemas.openxmlformats.org/drawingml/2006/main">
            <a:off x="7200000" y="234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物理键 / 蓝牙键盘</a:t>
            </a:r>
          </a:p>
        </p:txBody>
      </p:sp>
      <p:sp>
        <p:nvSpPr>
          <p:cNvPr id="100044" name="TextBox 16"/>
          <p:cNvSpPr txBox="1"/>
          <p:nvPr/>
        </p:nvSpPr>
        <p:spPr>
          <a:xfrm xmlns:a="http://schemas.openxmlformats.org/drawingml/2006/main">
            <a:off x="7200000" y="2556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Ctrl / Alt 修饰符</a:t>
            </a:r>
          </a:p>
        </p:txBody>
      </p:sp>
      <p:sp>
        <p:nvSpPr>
          <p:cNvPr id="100045" name="TextBox 17"/>
          <p:cNvSpPr txBox="1"/>
          <p:nvPr/>
        </p:nvSpPr>
        <p:spPr>
          <a:xfrm xmlns:a="http://schemas.openxmlformats.org/drawingml/2006/main">
            <a:off x="7200000" y="2772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DEL / 方向键 / 功能键</a:t>
            </a:r>
          </a:p>
        </p:txBody>
      </p:sp>
      <p:sp>
        <p:nvSpPr>
          <p:cNvPr id="100046" name="TextBox 18"/>
          <p:cNvSpPr txBox="1"/>
          <p:nvPr/>
        </p:nvSpPr>
        <p:spPr>
          <a:xfrm xmlns:a="http://schemas.openxmlformats.org/drawingml/2006/main">
            <a:off x="7200000" y="3132000"/>
            <a:ext cx="43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94A1B2"/>
                </a:solidFill>
                <a:latin typeface="Inter"/>
                <a:ea typeface="Inter"/>
              </a:rPr>
              <a:t>可打印字符 / 控制信号 / ANSI 转义</a:t>
            </a:r>
          </a:p>
        </p:txBody>
      </p:sp>
      <p:sp>
        <p:nvSpPr>
          <p:cNvPr id="100047" name="TextBox 19"/>
          <p:cNvSpPr txBox="1"/>
          <p:nvPr/>
        </p:nvSpPr>
        <p:spPr>
          <a:xfrm xmlns:a="http://schemas.openxmlformats.org/drawingml/2006/main">
            <a:off x="7200000" y="4464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 i="1">
                <a:solidFill>
                  <a:srgbClr val="6E7681"/>
                </a:solidFill>
                <a:latin typeface="Inter"/>
                <a:ea typeface="Inter"/>
              </a:rPr>
              <a:t>「我有一个确定要发的字节」</a:t>
            </a:r>
          </a:p>
        </p:txBody>
      </p:sp>
      <p:sp>
        <p:nvSpPr>
          <p:cNvPr id="100048" name="TextBox 20"/>
          <p:cNvSpPr/>
          <p:nvPr/>
        </p:nvSpPr>
        <p:spPr>
          <a:xfrm xmlns:a="http://schemas.openxmlformats.org/drawingml/2006/main">
            <a:off x="5400000" y="3024000"/>
            <a:ext cx="900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0F14"/>
          </a:solidFill>
          <a:ln xmlns:a="http://schemas.openxmlformats.org/drawingml/2006/main" w="19050">
            <a:solidFill>
              <a:srgbClr val="FFFFFE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FFFFFE"/>
                </a:solidFill>
                <a:latin typeface="JetBrains Mono"/>
                <a:ea typeface="JetBrains Mono"/>
              </a:rPr>
              <a:t>KeyMapper</a:t>
            </a:r>
          </a:p>
        </p:txBody>
      </p:sp>
      <p:sp>
        <p:nvSpPr>
          <p:cNvPr id="100049" name="TextBox 21"/>
          <p:cNvSpPr txBox="1"/>
          <p:nvPr/>
        </p:nvSpPr>
        <p:spPr>
          <a:xfrm xmlns:a="http://schemas.openxmlformats.org/drawingml/2006/main">
            <a:off x="5184000" y="3456000"/>
            <a:ext cx="133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000">
                <a:solidFill>
                  <a:srgbClr val="7F5AF0"/>
                </a:solidFill>
                <a:latin typeface="JetBrains Mono"/>
                <a:ea typeface="JetBrains Mono"/>
              </a:rPr>
              <a:t>Send / Swallow / Ignore</a:t>
            </a:r>
          </a:p>
        </p:txBody>
      </p:sp>
      <p:sp>
        <p:nvSpPr>
          <p:cNvPr id="100050" name="TextBox 22"/>
          <p:cNvSpPr txBox="1"/>
          <p:nvPr/>
        </p:nvSpPr>
        <p:spPr>
          <a:xfrm xmlns:a="http://schemas.openxmlformats.org/drawingml/2006/main">
            <a:off x="10440000" y="6480000"/>
            <a:ext cx="14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E7681"/>
                </a:solidFill>
                <a:latin typeface="JetBrains Mono"/>
                <a:ea typeface="JetBrains Mono"/>
              </a:rPr>
              <a:t>03 / 12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051" name="TextBox 1"/>
          <p:cNvSpPr txBox="1"/>
          <p:nvPr/>
        </p:nvSpPr>
        <p:spPr>
          <a:xfrm xmlns:a="http://schemas.openxmlformats.org/drawingml/2006/main">
            <a:off x="360000" y="288000"/>
            <a:ext cx="28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03 · ARCHITECTURE</a:t>
            </a:r>
          </a:p>
        </p:txBody>
      </p:sp>
      <p:sp>
        <p:nvSpPr>
          <p:cNvPr id="100052" name="TextBox 2"/>
          <p:cNvSpPr txBox="1"/>
          <p:nvPr/>
        </p:nvSpPr>
        <p:spPr>
          <a:xfrm xmlns:a="http://schemas.openxmlformats.org/drawingml/2006/main">
            <a:off x="360000" y="504000"/>
            <a:ext cx="100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E"/>
                </a:solidFill>
                <a:latin typeface="Inter"/>
                <a:ea typeface="Inter"/>
              </a:rPr>
              <a:t>数据流与模块划分</a:t>
            </a:r>
          </a:p>
        </p:txBody>
      </p:sp>
      <p:sp>
        <p:nvSpPr>
          <p:cNvPr id="100053" name="TextBox 3"/>
          <p:cNvSpPr txBox="1"/>
          <p:nvPr/>
        </p:nvSpPr>
        <p:spPr>
          <a:xfrm xmlns:a="http://schemas.openxmlformats.org/drawingml/2006/main">
            <a:off x="360000" y="972000"/>
            <a:ext cx="10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1B2"/>
                </a:solidFill>
                <a:latin typeface="Inter"/>
                <a:ea typeface="Inter"/>
              </a:rPr>
              <a:t>单 Activity + Compose UI + Coroutine + Channel；Sprint 2 引入 SSHJ Transport 抽象</a:t>
            </a:r>
          </a:p>
        </p:txBody>
      </p:sp>
      <p:sp>
        <p:nvSpPr>
          <p:cNvPr id="100054" name="TextBox 4"/>
          <p:cNvSpPr txBox="1"/>
          <p:nvPr/>
        </p:nvSpPr>
        <p:spPr>
          <a:xfrm xmlns:a="http://schemas.openxmlformats.org/drawingml/2006/main">
            <a:off x="540000" y="1404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CB67D"/>
                </a:solidFill>
                <a:latin typeface="JetBrains Mono"/>
                <a:ea typeface="JetBrains Mono"/>
              </a:rPr>
              <a:t>↓ 出方向：SSH → 屏幕</a:t>
            </a:r>
          </a:p>
        </p:txBody>
      </p:sp>
      <p:sp>
        <p:nvSpPr>
          <p:cNvPr id="100055" name="TextBox 5"/>
          <p:cNvSpPr/>
          <p:nvPr/>
        </p:nvSpPr>
        <p:spPr>
          <a:xfrm xmlns:a="http://schemas.openxmlformats.org/drawingml/2006/main">
            <a:off x="540000" y="1620000"/>
            <a:ext cx="1080000" cy="43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A1F2E"/>
          </a:solidFill>
          <a:ln xmlns:a="http://schemas.openxmlformats.org/drawingml/2006/main" w="12700">
            <a:solidFill>
              <a:srgbClr val="7F5AF0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FFFFFE"/>
                </a:solidFill>
                <a:latin typeface="JetBrains Mono"/>
                <a:ea typeface="JetBrains Mono"/>
              </a:rPr>
              <a:t>SSH Server</a:t>
            </a:r>
          </a:p>
        </p:txBody>
      </p:sp>
      <p:sp>
        <p:nvSpPr>
          <p:cNvPr id="100056" name="TextBox 6"/>
          <p:cNvSpPr txBox="1"/>
          <p:nvPr/>
        </p:nvSpPr>
        <p:spPr>
          <a:xfrm xmlns:a="http://schemas.openxmlformats.org/drawingml/2006/main">
            <a:off x="1620000" y="1620000"/>
            <a:ext cx="1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7F5AF0"/>
                </a:solidFill>
                <a:latin typeface="Inter"/>
                <a:ea typeface="Inter"/>
              </a:rPr>
              <a:t>→</a:t>
            </a:r>
          </a:p>
        </p:txBody>
      </p:sp>
      <p:sp>
        <p:nvSpPr>
          <p:cNvPr id="100057" name="TextBox 7"/>
          <p:cNvSpPr/>
          <p:nvPr/>
        </p:nvSpPr>
        <p:spPr>
          <a:xfrm xmlns:a="http://schemas.openxmlformats.org/drawingml/2006/main">
            <a:off x="1800000" y="1620000"/>
            <a:ext cx="1080000" cy="43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A1F2E"/>
          </a:solidFill>
          <a:ln xmlns:a="http://schemas.openxmlformats.org/drawingml/2006/main" w="12700">
            <a:solidFill>
              <a:srgbClr val="7F5AF0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FFFFFE"/>
                </a:solidFill>
                <a:latin typeface="JetBrains Mono"/>
                <a:ea typeface="JetBrains Mono"/>
              </a:rPr>
              <a:t>SshSession</a:t>
            </a:r>
          </a:p>
        </p:txBody>
      </p:sp>
      <p:sp>
        <p:nvSpPr>
          <p:cNvPr id="100058" name="TextBox 8"/>
          <p:cNvSpPr txBox="1"/>
          <p:nvPr/>
        </p:nvSpPr>
        <p:spPr>
          <a:xfrm xmlns:a="http://schemas.openxmlformats.org/drawingml/2006/main">
            <a:off x="2880000" y="1620000"/>
            <a:ext cx="1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7F5AF0"/>
                </a:solidFill>
                <a:latin typeface="Inter"/>
                <a:ea typeface="Inter"/>
              </a:rPr>
              <a:t>→</a:t>
            </a:r>
          </a:p>
        </p:txBody>
      </p:sp>
      <p:sp>
        <p:nvSpPr>
          <p:cNvPr id="100059" name="TextBox 9"/>
          <p:cNvSpPr/>
          <p:nvPr/>
        </p:nvSpPr>
        <p:spPr>
          <a:xfrm xmlns:a="http://schemas.openxmlformats.org/drawingml/2006/main">
            <a:off x="3060000" y="1620000"/>
            <a:ext cx="1080000" cy="43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A1F2E"/>
          </a:solidFill>
          <a:ln xmlns:a="http://schemas.openxmlformats.org/drawingml/2006/main" w="12700">
            <a:solidFill>
              <a:srgbClr val="7F5AF0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FFFFFE"/>
                </a:solidFill>
                <a:latin typeface="JetBrains Mono"/>
                <a:ea typeface="JetBrains Mono"/>
              </a:rPr>
              <a:t>emulator</a:t>
            </a:r>
          </a:p>
        </p:txBody>
      </p:sp>
      <p:sp>
        <p:nvSpPr>
          <p:cNvPr id="100060" name="TextBox 10"/>
          <p:cNvSpPr txBox="1"/>
          <p:nvPr/>
        </p:nvSpPr>
        <p:spPr>
          <a:xfrm xmlns:a="http://schemas.openxmlformats.org/drawingml/2006/main">
            <a:off x="4140000" y="1620000"/>
            <a:ext cx="1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7F5AF0"/>
                </a:solidFill>
                <a:latin typeface="Inter"/>
                <a:ea typeface="Inter"/>
              </a:rPr>
              <a:t>→</a:t>
            </a:r>
          </a:p>
        </p:txBody>
      </p:sp>
      <p:sp>
        <p:nvSpPr>
          <p:cNvPr id="100061" name="TextBox 11"/>
          <p:cNvSpPr/>
          <p:nvPr/>
        </p:nvSpPr>
        <p:spPr>
          <a:xfrm xmlns:a="http://schemas.openxmlformats.org/drawingml/2006/main">
            <a:off x="4320000" y="1620000"/>
            <a:ext cx="1080000" cy="43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A1F2E"/>
          </a:solidFill>
          <a:ln xmlns:a="http://schemas.openxmlformats.org/drawingml/2006/main" w="12700">
            <a:solidFill>
              <a:srgbClr val="2CB67D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FFFFFE"/>
                </a:solidFill>
                <a:latin typeface="JetBrains Mono"/>
                <a:ea typeface="JetBrains Mono"/>
              </a:rPr>
              <a:t>屏幕</a:t>
            </a:r>
          </a:p>
        </p:txBody>
      </p:sp>
      <p:sp>
        <p:nvSpPr>
          <p:cNvPr id="100062" name="TextBox 12"/>
          <p:cNvSpPr txBox="1"/>
          <p:nvPr/>
        </p:nvSpPr>
        <p:spPr>
          <a:xfrm xmlns:a="http://schemas.openxmlformats.org/drawingml/2006/main">
            <a:off x="540000" y="2196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CB67D"/>
                </a:solidFill>
                <a:latin typeface="JetBrains Mono"/>
                <a:ea typeface="JetBrains Mono"/>
              </a:rPr>
              <a:t>↑ 入方向：用户输入 → SSH</a:t>
            </a:r>
          </a:p>
        </p:txBody>
      </p:sp>
      <p:sp>
        <p:nvSpPr>
          <p:cNvPr id="100063" name="TextBox 13"/>
          <p:cNvSpPr/>
          <p:nvPr/>
        </p:nvSpPr>
        <p:spPr>
          <a:xfrm xmlns:a="http://schemas.openxmlformats.org/drawingml/2006/main">
            <a:off x="540000" y="2412000"/>
            <a:ext cx="1080000" cy="43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A1F2E"/>
          </a:solidFill>
          <a:ln xmlns:a="http://schemas.openxmlformats.org/drawingml/2006/main" w="12700">
            <a:solidFill>
              <a:srgbClr val="2CB67D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000" b="1">
                <a:solidFill>
                  <a:srgbClr val="FFFFFE"/>
                </a:solidFill>
                <a:latin typeface="JetBrains Mono"/>
                <a:ea typeface="JetBrains Mono"/>
              </a:rPr>
              <a:t>物理键 / IME</a:t>
            </a:r>
          </a:p>
        </p:txBody>
      </p:sp>
      <p:sp>
        <p:nvSpPr>
          <p:cNvPr id="100064" name="TextBox 14"/>
          <p:cNvSpPr txBox="1"/>
          <p:nvPr/>
        </p:nvSpPr>
        <p:spPr>
          <a:xfrm xmlns:a="http://schemas.openxmlformats.org/drawingml/2006/main">
            <a:off x="1620000" y="2412000"/>
            <a:ext cx="1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2CB67D"/>
                </a:solidFill>
                <a:latin typeface="Inter"/>
                <a:ea typeface="Inter"/>
              </a:rPr>
              <a:t>→</a:t>
            </a:r>
          </a:p>
        </p:txBody>
      </p:sp>
      <p:sp>
        <p:nvSpPr>
          <p:cNvPr id="100065" name="TextBox 15"/>
          <p:cNvSpPr/>
          <p:nvPr/>
        </p:nvSpPr>
        <p:spPr>
          <a:xfrm xmlns:a="http://schemas.openxmlformats.org/drawingml/2006/main">
            <a:off x="1800000" y="2412000"/>
            <a:ext cx="1080000" cy="43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A1F2E"/>
          </a:solidFill>
          <a:ln xmlns:a="http://schemas.openxmlformats.org/drawingml/2006/main" w="12700">
            <a:solidFill>
              <a:srgbClr val="2CB67D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000" b="1">
                <a:solidFill>
                  <a:srgbClr val="FFFFFE"/>
                </a:solidFill>
                <a:latin typeface="JetBrains Mono"/>
                <a:ea typeface="JetBrains Mono"/>
              </a:rPr>
              <a:t>KeyMapper / IC</a:t>
            </a:r>
          </a:p>
        </p:txBody>
      </p:sp>
      <p:sp>
        <p:nvSpPr>
          <p:cNvPr id="100066" name="TextBox 16"/>
          <p:cNvSpPr txBox="1"/>
          <p:nvPr/>
        </p:nvSpPr>
        <p:spPr>
          <a:xfrm xmlns:a="http://schemas.openxmlformats.org/drawingml/2006/main">
            <a:off x="2880000" y="2412000"/>
            <a:ext cx="1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2CB67D"/>
                </a:solidFill>
                <a:latin typeface="Inter"/>
                <a:ea typeface="Inter"/>
              </a:rPr>
              <a:t>→</a:t>
            </a:r>
          </a:p>
        </p:txBody>
      </p:sp>
      <p:sp>
        <p:nvSpPr>
          <p:cNvPr id="100067" name="TextBox 17"/>
          <p:cNvSpPr/>
          <p:nvPr/>
        </p:nvSpPr>
        <p:spPr>
          <a:xfrm xmlns:a="http://schemas.openxmlformats.org/drawingml/2006/main">
            <a:off x="3060000" y="2412000"/>
            <a:ext cx="1080000" cy="43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A1F2E"/>
          </a:solidFill>
          <a:ln xmlns:a="http://schemas.openxmlformats.org/drawingml/2006/main" w="12700">
            <a:solidFill>
              <a:srgbClr val="2CB67D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000" b="1">
                <a:solidFill>
                  <a:srgbClr val="FFFFFE"/>
                </a:solidFill>
                <a:latin typeface="JetBrains Mono"/>
                <a:ea typeface="JetBrains Mono"/>
              </a:rPr>
              <a:t>SshSession</a:t>
            </a:r>
          </a:p>
        </p:txBody>
      </p:sp>
      <p:sp>
        <p:nvSpPr>
          <p:cNvPr id="100068" name="TextBox 18"/>
          <p:cNvSpPr txBox="1"/>
          <p:nvPr/>
        </p:nvSpPr>
        <p:spPr>
          <a:xfrm xmlns:a="http://schemas.openxmlformats.org/drawingml/2006/main">
            <a:off x="4140000" y="2412000"/>
            <a:ext cx="1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2CB67D"/>
                </a:solidFill>
                <a:latin typeface="Inter"/>
                <a:ea typeface="Inter"/>
              </a:rPr>
              <a:t>→</a:t>
            </a:r>
          </a:p>
        </p:txBody>
      </p:sp>
      <p:sp>
        <p:nvSpPr>
          <p:cNvPr id="100069" name="TextBox 19"/>
          <p:cNvSpPr/>
          <p:nvPr/>
        </p:nvSpPr>
        <p:spPr>
          <a:xfrm xmlns:a="http://schemas.openxmlformats.org/drawingml/2006/main">
            <a:off x="4320000" y="2412000"/>
            <a:ext cx="1080000" cy="43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A1F2E"/>
          </a:solidFill>
          <a:ln xmlns:a="http://schemas.openxmlformats.org/drawingml/2006/main" w="12700">
            <a:solidFill>
              <a:srgbClr val="7F5AF0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000" b="1">
                <a:solidFill>
                  <a:srgbClr val="FFFFFE"/>
                </a:solidFill>
                <a:latin typeface="JetBrains Mono"/>
                <a:ea typeface="JetBrains Mono"/>
              </a:rPr>
              <a:t>SSH Server</a:t>
            </a:r>
          </a:p>
        </p:txBody>
      </p:sp>
      <p:sp>
        <p:nvSpPr>
          <p:cNvPr id="100070" name="TextBox 20"/>
          <p:cNvSpPr txBox="1"/>
          <p:nvPr/>
        </p:nvSpPr>
        <p:spPr>
          <a:xfrm xmlns:a="http://schemas.openxmlformats.org/drawingml/2006/main">
            <a:off x="540000" y="2952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1B2"/>
                </a:solidFill>
                <a:latin typeface="JetBrains Mono"/>
                <a:ea typeface="JetBrains Mono"/>
              </a:rPr>
              <a:t>节流防爆栈：refreshSignal = Channel&lt;Unit&gt;(CONFLATED)</a:t>
            </a:r>
          </a:p>
        </p:txBody>
      </p:sp>
      <p:sp>
        <p:nvSpPr>
          <p:cNvPr id="100071" name="TextBox 21"/>
          <p:cNvSpPr txBox="1"/>
          <p:nvPr/>
        </p:nvSpPr>
        <p:spPr>
          <a:xfrm xmlns:a="http://schemas.openxmlformats.org/drawingml/2006/main">
            <a:off x="540000" y="3168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1B2"/>
                </a:solidFill>
                <a:latin typeface="JetBrains Mono"/>
                <a:ea typeface="JetBrains Mono"/>
              </a:rPr>
              <a:t>串行 outbound：writeExecutor 单线程，避免字节交错</a:t>
            </a:r>
          </a:p>
        </p:txBody>
      </p:sp>
      <p:sp>
        <p:nvSpPr>
          <p:cNvPr id="100072" name="TextBox 22"/>
          <p:cNvSpPr txBox="1"/>
          <p:nvPr/>
        </p:nvSpPr>
        <p:spPr>
          <a:xfrm xmlns:a="http://schemas.openxmlformats.org/drawingml/2006/main">
            <a:off x="6120000" y="1404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模块划分</a:t>
            </a:r>
          </a:p>
        </p:txBody>
      </p:sp>
      <p:sp>
        <p:nvSpPr>
          <p:cNvPr id="100073" name="TextBox 23"/>
          <p:cNvSpPr/>
          <p:nvPr/>
        </p:nvSpPr>
        <p:spPr>
          <a:xfrm xmlns:a="http://schemas.openxmlformats.org/drawingml/2006/main">
            <a:off x="6120000" y="1620000"/>
            <a:ext cx="5040000" cy="72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 w="12700">
            <a:solidFill>
              <a:srgbClr val="7F5AF0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074" name="TextBox 24"/>
          <p:cNvSpPr txBox="1"/>
          <p:nvPr/>
        </p:nvSpPr>
        <p:spPr>
          <a:xfrm xmlns:a="http://schemas.openxmlformats.org/drawingml/2006/main">
            <a:off x="6228000" y="1656000"/>
            <a:ext cx="48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7F5AF0"/>
                </a:solidFill>
                <a:latin typeface="JetBrains Mono"/>
                <a:ea typeface="JetBrains Mono"/>
              </a:rPr>
              <a:t>terminal/</a:t>
            </a:r>
          </a:p>
        </p:txBody>
      </p:sp>
      <p:sp>
        <p:nvSpPr>
          <p:cNvPr id="100075" name="TextBox 25"/>
          <p:cNvSpPr txBox="1"/>
          <p:nvPr/>
        </p:nvSpPr>
        <p:spPr>
          <a:xfrm xmlns:a="http://schemas.openxmlformats.org/drawingml/2006/main">
            <a:off x="6228000" y="1854000"/>
            <a:ext cx="48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IME 与渲染：TerminalView / InputConnection / KeyMapper</a:t>
            </a:r>
          </a:p>
        </p:txBody>
      </p:sp>
      <p:sp>
        <p:nvSpPr>
          <p:cNvPr id="100076" name="TextBox 26"/>
          <p:cNvSpPr txBox="1"/>
          <p:nvPr/>
        </p:nvSpPr>
        <p:spPr>
          <a:xfrm xmlns:a="http://schemas.openxmlformats.org/drawingml/2006/main">
            <a:off x="6228000" y="2052000"/>
            <a:ext cx="48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 i="1">
                <a:solidFill>
                  <a:srgbClr val="94A1B2"/>
                </a:solidFill>
                <a:latin typeface="Inter"/>
                <a:ea typeface="Inter"/>
              </a:rPr>
              <a:t>Termux terminal-emulator 0.118（黑盒核心）</a:t>
            </a:r>
          </a:p>
        </p:txBody>
      </p:sp>
      <p:sp>
        <p:nvSpPr>
          <p:cNvPr id="100077" name="TextBox 27"/>
          <p:cNvSpPr/>
          <p:nvPr/>
        </p:nvSpPr>
        <p:spPr>
          <a:xfrm xmlns:a="http://schemas.openxmlformats.org/drawingml/2006/main">
            <a:off x="6120000" y="2412000"/>
            <a:ext cx="5040000" cy="72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 w="12700">
            <a:solidFill>
              <a:srgbClr val="2CB67D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078" name="TextBox 28"/>
          <p:cNvSpPr txBox="1"/>
          <p:nvPr/>
        </p:nvSpPr>
        <p:spPr>
          <a:xfrm xmlns:a="http://schemas.openxmlformats.org/drawingml/2006/main">
            <a:off x="6228000" y="2448000"/>
            <a:ext cx="48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2CB67D"/>
                </a:solidFill>
                <a:latin typeface="JetBrains Mono"/>
                <a:ea typeface="JetBrains Mono"/>
              </a:rPr>
              <a:t>ssh/</a:t>
            </a:r>
          </a:p>
        </p:txBody>
      </p:sp>
      <p:sp>
        <p:nvSpPr>
          <p:cNvPr id="100079" name="TextBox 29"/>
          <p:cNvSpPr txBox="1"/>
          <p:nvPr/>
        </p:nvSpPr>
        <p:spPr>
          <a:xfrm xmlns:a="http://schemas.openxmlformats.org/drawingml/2006/main">
            <a:off x="6228000" y="2646000"/>
            <a:ext cx="48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Sprint 2 真 SSH：SSHJ 0.38 + BouncyCastle 1.78</a:t>
            </a:r>
          </a:p>
        </p:txBody>
      </p:sp>
      <p:sp>
        <p:nvSpPr>
          <p:cNvPr id="100080" name="TextBox 30"/>
          <p:cNvSpPr txBox="1"/>
          <p:nvPr/>
        </p:nvSpPr>
        <p:spPr>
          <a:xfrm xmlns:a="http://schemas.openxmlformats.org/drawingml/2006/main">
            <a:off x="6228000" y="2844000"/>
            <a:ext cx="48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 i="1">
                <a:solidFill>
                  <a:srgbClr val="94A1B2"/>
                </a:solidFill>
                <a:latin typeface="Inter"/>
                <a:ea typeface="Inter"/>
              </a:rPr>
              <a:t>SshClient / SshSession / SshTransport 4-方法窄接口</a:t>
            </a:r>
          </a:p>
        </p:txBody>
      </p:sp>
      <p:sp>
        <p:nvSpPr>
          <p:cNvPr id="100081" name="TextBox 31"/>
          <p:cNvSpPr/>
          <p:nvPr/>
        </p:nvSpPr>
        <p:spPr>
          <a:xfrm xmlns:a="http://schemas.openxmlformats.org/drawingml/2006/main">
            <a:off x="6120000" y="3204000"/>
            <a:ext cx="2466000" cy="72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 w="12700">
            <a:solidFill>
              <a:srgbClr val="94A1B2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082" name="TextBox 32"/>
          <p:cNvSpPr txBox="1"/>
          <p:nvPr/>
        </p:nvSpPr>
        <p:spPr>
          <a:xfrm xmlns:a="http://schemas.openxmlformats.org/drawingml/2006/main">
            <a:off x="6228000" y="3240000"/>
            <a:ext cx="23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94A1B2"/>
                </a:solidFill>
                <a:latin typeface="JetBrains Mono"/>
                <a:ea typeface="JetBrains Mono"/>
              </a:rPr>
              <a:t>data/</a:t>
            </a:r>
          </a:p>
        </p:txBody>
      </p:sp>
      <p:sp>
        <p:nvSpPr>
          <p:cNvPr id="100083" name="TextBox 33"/>
          <p:cNvSpPr txBox="1"/>
          <p:nvPr/>
        </p:nvSpPr>
        <p:spPr>
          <a:xfrm xmlns:a="http://schemas.openxmlformats.org/drawingml/2006/main">
            <a:off x="6228000" y="3438000"/>
            <a:ext cx="23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FFFFFE"/>
                </a:solidFill>
                <a:latin typeface="Inter"/>
                <a:ea typeface="Inter"/>
              </a:rPr>
              <a:t>KeyStoreManager AES-256-GCM</a:t>
            </a:r>
          </a:p>
        </p:txBody>
      </p:sp>
      <p:sp>
        <p:nvSpPr>
          <p:cNvPr id="100084" name="TextBox 34"/>
          <p:cNvSpPr txBox="1"/>
          <p:nvPr/>
        </p:nvSpPr>
        <p:spPr>
          <a:xfrm xmlns:a="http://schemas.openxmlformats.org/drawingml/2006/main">
            <a:off x="6228000" y="3618000"/>
            <a:ext cx="23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94A1B2"/>
                </a:solidFill>
                <a:latin typeface="Inter"/>
                <a:ea typeface="Inter"/>
              </a:rPr>
              <a:t>AppPreferences + SAF 私钥</a:t>
            </a:r>
          </a:p>
        </p:txBody>
      </p:sp>
      <p:sp>
        <p:nvSpPr>
          <p:cNvPr id="100085" name="TextBox 35"/>
          <p:cNvSpPr/>
          <p:nvPr/>
        </p:nvSpPr>
        <p:spPr>
          <a:xfrm xmlns:a="http://schemas.openxmlformats.org/drawingml/2006/main">
            <a:off x="8694000" y="3204000"/>
            <a:ext cx="2466000" cy="72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 w="12700">
            <a:solidFill>
              <a:srgbClr val="94A1B2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086" name="TextBox 36"/>
          <p:cNvSpPr txBox="1"/>
          <p:nvPr/>
        </p:nvSpPr>
        <p:spPr>
          <a:xfrm xmlns:a="http://schemas.openxmlformats.org/drawingml/2006/main">
            <a:off x="8802000" y="3240000"/>
            <a:ext cx="23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94A1B2"/>
                </a:solidFill>
                <a:latin typeface="JetBrains Mono"/>
                <a:ea typeface="JetBrains Mono"/>
              </a:rPr>
              <a:t>ui/</a:t>
            </a:r>
          </a:p>
        </p:txBody>
      </p:sp>
      <p:sp>
        <p:nvSpPr>
          <p:cNvPr id="100087" name="TextBox 37"/>
          <p:cNvSpPr txBox="1"/>
          <p:nvPr/>
        </p:nvSpPr>
        <p:spPr>
          <a:xfrm xmlns:a="http://schemas.openxmlformats.org/drawingml/2006/main">
            <a:off x="8802000" y="3438000"/>
            <a:ext cx="23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FFFFFE"/>
                </a:solidFill>
                <a:latin typeface="Inter"/>
                <a:ea typeface="Inter"/>
              </a:rPr>
              <a:t>Compose 装配</a:t>
            </a:r>
          </a:p>
        </p:txBody>
      </p:sp>
      <p:sp>
        <p:nvSpPr>
          <p:cNvPr id="100088" name="TextBox 38"/>
          <p:cNvSpPr txBox="1"/>
          <p:nvPr/>
        </p:nvSpPr>
        <p:spPr>
          <a:xfrm xmlns:a="http://schemas.openxmlformats.org/drawingml/2006/main">
            <a:off x="8802000" y="3618000"/>
            <a:ext cx="23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94A1B2"/>
                </a:solidFill>
                <a:latin typeface="Inter"/>
                <a:ea typeface="Inter"/>
              </a:rPr>
              <a:t>Config / TerminalPane / LogPanel</a:t>
            </a:r>
          </a:p>
        </p:txBody>
      </p:sp>
      <p:sp>
        <p:nvSpPr>
          <p:cNvPr id="100089" name="TextBox 39"/>
          <p:cNvSpPr txBox="1"/>
          <p:nvPr/>
        </p:nvSpPr>
        <p:spPr>
          <a:xfrm xmlns:a="http://schemas.openxmlformats.org/drawingml/2006/main">
            <a:off x="540000" y="414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~1900 行 Kotlin · ~1000 行测试 · 20/20 测试绿 · 21 个源文件</a:t>
            </a:r>
          </a:p>
        </p:txBody>
      </p:sp>
      <p:sp>
        <p:nvSpPr>
          <p:cNvPr id="100090" name="TextBox 40"/>
          <p:cNvSpPr txBox="1"/>
          <p:nvPr/>
        </p:nvSpPr>
        <p:spPr>
          <a:xfrm xmlns:a="http://schemas.openxmlformats.org/drawingml/2006/main">
            <a:off x="10440000" y="6480000"/>
            <a:ext cx="14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E7681"/>
                </a:solidFill>
                <a:latin typeface="JetBrains Mono"/>
                <a:ea typeface="JetBrains Mono"/>
              </a:rPr>
              <a:t>04 / 12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091" name="TextBox 1"/>
          <p:cNvSpPr txBox="1"/>
          <p:nvPr/>
        </p:nvSpPr>
        <p:spPr>
          <a:xfrm xmlns:a="http://schemas.openxmlformats.org/drawingml/2006/main">
            <a:off x="360000" y="288000"/>
            <a:ext cx="28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04 · KEY DECISIONS</a:t>
            </a:r>
          </a:p>
        </p:txBody>
      </p:sp>
      <p:sp>
        <p:nvSpPr>
          <p:cNvPr id="100092" name="TextBox 2"/>
          <p:cNvSpPr txBox="1"/>
          <p:nvPr/>
        </p:nvSpPr>
        <p:spPr>
          <a:xfrm xmlns:a="http://schemas.openxmlformats.org/drawingml/2006/main">
            <a:off x="360000" y="504000"/>
            <a:ext cx="100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E"/>
                </a:solidFill>
                <a:latin typeface="Inter"/>
                <a:ea typeface="Inter"/>
              </a:rPr>
              <a:t>关键技术决策（一）</a:t>
            </a:r>
          </a:p>
        </p:txBody>
      </p:sp>
      <p:sp>
        <p:nvSpPr>
          <p:cNvPr id="100093" name="TextBox 3"/>
          <p:cNvSpPr txBox="1"/>
          <p:nvPr/>
        </p:nvSpPr>
        <p:spPr>
          <a:xfrm xmlns:a="http://schemas.openxmlformats.org/drawingml/2006/main">
            <a:off x="360000" y="972000"/>
            <a:ext cx="10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1B2"/>
                </a:solidFill>
                <a:latin typeface="Inter"/>
                <a:ea typeface="Inter"/>
              </a:rPr>
              <a:t>所有自研冲动，都被有意识地拦截</a:t>
            </a:r>
          </a:p>
        </p:txBody>
      </p:sp>
      <p:sp>
        <p:nvSpPr>
          <p:cNvPr id="100094" name="TextBox 4"/>
          <p:cNvSpPr/>
          <p:nvPr/>
        </p:nvSpPr>
        <p:spPr>
          <a:xfrm xmlns:a="http://schemas.openxmlformats.org/drawingml/2006/main">
            <a:off x="540000" y="1404000"/>
            <a:ext cx="4680000" cy="378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0F14"/>
          </a:solidFill>
          <a:ln xmlns:a="http://schemas.openxmlformats.org/drawingml/2006/main" w="19050">
            <a:solidFill>
              <a:srgbClr val="FF6B6B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095" name="TextBox 5"/>
          <p:cNvSpPr txBox="1"/>
          <p:nvPr/>
        </p:nvSpPr>
        <p:spPr>
          <a:xfrm xmlns:a="http://schemas.openxmlformats.org/drawingml/2006/main">
            <a:off x="720000" y="1476000"/>
            <a:ext cx="43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6B6B"/>
                </a:solidFill>
                <a:latin typeface="JetBrains Mono"/>
                <a:ea typeface="JetBrains Mono"/>
              </a:rPr>
              <a:t>✗  WRONG</a:t>
            </a:r>
          </a:p>
        </p:txBody>
      </p:sp>
      <p:sp>
        <p:nvSpPr>
          <p:cNvPr id="100096" name="TextBox 6"/>
          <p:cNvSpPr txBox="1"/>
          <p:nvPr/>
        </p:nvSpPr>
        <p:spPr>
          <a:xfrm xmlns:a="http://schemas.openxmlformats.org/drawingml/2006/main">
            <a:off x="720000" y="1692000"/>
            <a:ext cx="43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E"/>
                </a:solidFill>
                <a:latin typeface="Inter"/>
                <a:ea typeface="Inter"/>
              </a:rPr>
              <a:t>从零自研终端渲染</a:t>
            </a:r>
          </a:p>
        </p:txBody>
      </p:sp>
      <p:sp>
        <p:nvSpPr>
          <p:cNvPr id="100097" name="TextBox 7"/>
          <p:cNvSpPr txBox="1"/>
          <p:nvPr/>
        </p:nvSpPr>
        <p:spPr>
          <a:xfrm xmlns:a="http://schemas.openxmlformats.org/drawingml/2006/main">
            <a:off x="720000" y="2052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6B6B"/>
                </a:solidFill>
                <a:latin typeface="JetBrains Mono"/>
                <a:ea typeface="JetBrains Mono"/>
              </a:rPr>
              <a:t>Canvas + ANSI 状态机</a:t>
            </a:r>
          </a:p>
        </p:txBody>
      </p:sp>
      <p:sp>
        <p:nvSpPr>
          <p:cNvPr id="100098" name="TextBox 8"/>
          <p:cNvSpPr txBox="1"/>
          <p:nvPr/>
        </p:nvSpPr>
        <p:spPr>
          <a:xfrm xmlns:a="http://schemas.openxmlformats.org/drawingml/2006/main">
            <a:off x="720000" y="2232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6B6B"/>
                </a:solidFill>
                <a:latin typeface="JetBrains Mono"/>
                <a:ea typeface="JetBrains Mono"/>
              </a:rPr>
              <a:t>+ 双缓冲 + CJK 双宽字符</a:t>
            </a:r>
          </a:p>
        </p:txBody>
      </p:sp>
      <p:sp>
        <p:nvSpPr>
          <p:cNvPr id="100099" name="TextBox 9"/>
          <p:cNvSpPr txBox="1"/>
          <p:nvPr/>
        </p:nvSpPr>
        <p:spPr>
          <a:xfrm xmlns:a="http://schemas.openxmlformats.org/drawingml/2006/main">
            <a:off x="720000" y="2412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6B6B"/>
                </a:solidFill>
                <a:latin typeface="JetBrains Mono"/>
                <a:ea typeface="JetBrains Mono"/>
              </a:rPr>
              <a:t>+ 选择区域 / 行折叠</a:t>
            </a:r>
          </a:p>
        </p:txBody>
      </p:sp>
      <p:sp>
        <p:nvSpPr>
          <p:cNvPr id="100100" name="TextBox 10"/>
          <p:cNvSpPr txBox="1"/>
          <p:nvPr/>
        </p:nvSpPr>
        <p:spPr>
          <a:xfrm xmlns:a="http://schemas.openxmlformats.org/drawingml/2006/main">
            <a:off x="720000" y="2592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6B6B"/>
                </a:solidFill>
                <a:latin typeface="JetBrains Mono"/>
                <a:ea typeface="JetBrains Mono"/>
              </a:rPr>
              <a:t>+ 256color / TrueColor</a:t>
            </a:r>
          </a:p>
        </p:txBody>
      </p:sp>
      <p:sp>
        <p:nvSpPr>
          <p:cNvPr id="100101" name="TextBox 11"/>
          <p:cNvSpPr txBox="1"/>
          <p:nvPr/>
        </p:nvSpPr>
        <p:spPr>
          <a:xfrm xmlns:a="http://schemas.openxmlformats.org/drawingml/2006/main">
            <a:off x="720000" y="2772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6B6B"/>
                </a:solidFill>
                <a:latin typeface="JetBrains Mono"/>
                <a:ea typeface="JetBrains Mono"/>
              </a:rPr>
              <a:t>+ 退格与本地回显一致性</a:t>
            </a:r>
          </a:p>
        </p:txBody>
      </p:sp>
      <p:sp>
        <p:nvSpPr>
          <p:cNvPr id="100102" name="TextBox 12"/>
          <p:cNvSpPr txBox="1"/>
          <p:nvPr/>
        </p:nvSpPr>
        <p:spPr>
          <a:xfrm xmlns:a="http://schemas.openxmlformats.org/drawingml/2006/main">
            <a:off x="720000" y="324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94A1B2"/>
                </a:solidFill>
                <a:latin typeface="Inter"/>
                <a:ea typeface="Inter"/>
              </a:rPr>
              <a:t>→ 至少 3-6 个月 + 多年 bug 维护，</a:t>
            </a:r>
          </a:p>
        </p:txBody>
      </p:sp>
      <p:sp>
        <p:nvSpPr>
          <p:cNvPr id="100103" name="TextBox 13"/>
          <p:cNvSpPr txBox="1"/>
          <p:nvPr/>
        </p:nvSpPr>
        <p:spPr>
          <a:xfrm xmlns:a="http://schemas.openxmlformats.org/drawingml/2006/main">
            <a:off x="720000" y="342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94A1B2"/>
                </a:solidFill>
                <a:latin typeface="Inter"/>
                <a:ea typeface="Inter"/>
              </a:rPr>
              <a:t>把核心差异化（IME）拖到 Sprint 5 之后</a:t>
            </a:r>
          </a:p>
        </p:txBody>
      </p:sp>
      <p:sp>
        <p:nvSpPr>
          <p:cNvPr id="100104" name="TextBox 14"/>
          <p:cNvSpPr/>
          <p:nvPr/>
        </p:nvSpPr>
        <p:spPr>
          <a:xfrm xmlns:a="http://schemas.openxmlformats.org/drawingml/2006/main">
            <a:off x="7020000" y="1404000"/>
            <a:ext cx="4500000" cy="378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19050">
            <a:solidFill>
              <a:srgbClr val="2CB67D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105" name="TextBox 15"/>
          <p:cNvSpPr txBox="1"/>
          <p:nvPr/>
        </p:nvSpPr>
        <p:spPr>
          <a:xfrm xmlns:a="http://schemas.openxmlformats.org/drawingml/2006/main">
            <a:off x="7200000" y="1476000"/>
            <a:ext cx="43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2CB67D"/>
                </a:solidFill>
                <a:latin typeface="JetBrains Mono"/>
                <a:ea typeface="JetBrains Mono"/>
              </a:rPr>
              <a:t>✓  CORRECT</a:t>
            </a:r>
          </a:p>
        </p:txBody>
      </p:sp>
      <p:sp>
        <p:nvSpPr>
          <p:cNvPr id="100106" name="TextBox 16"/>
          <p:cNvSpPr txBox="1"/>
          <p:nvPr/>
        </p:nvSpPr>
        <p:spPr>
          <a:xfrm xmlns:a="http://schemas.openxmlformats.org/drawingml/2006/main">
            <a:off x="7200000" y="1692000"/>
            <a:ext cx="43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E"/>
                </a:solidFill>
                <a:latin typeface="Inter"/>
                <a:ea typeface="Inter"/>
              </a:rPr>
              <a:t>黑盒引入 Termux terminal-emulator</a:t>
            </a:r>
          </a:p>
        </p:txBody>
      </p:sp>
      <p:sp>
        <p:nvSpPr>
          <p:cNvPr id="100107" name="TextBox 17"/>
          <p:cNvSpPr txBox="1"/>
          <p:nvPr/>
        </p:nvSpPr>
        <p:spPr>
          <a:xfrm xmlns:a="http://schemas.openxmlformats.org/drawingml/2006/main">
            <a:off x="7200000" y="216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2CB67D"/>
                </a:solidFill>
                <a:latin typeface="JetBrains Mono"/>
                <a:ea typeface="JetBrains Mono"/>
              </a:rPr>
              <a:t>com.termux:terminal-emulator v0.118</a:t>
            </a:r>
          </a:p>
        </p:txBody>
      </p:sp>
      <p:sp>
        <p:nvSpPr>
          <p:cNvPr id="100108" name="TextBox 18"/>
          <p:cNvSpPr txBox="1"/>
          <p:nvPr/>
        </p:nvSpPr>
        <p:spPr>
          <a:xfrm xmlns:a="http://schemas.openxmlformats.org/drawingml/2006/main">
            <a:off x="7200000" y="234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 i="1">
                <a:solidFill>
                  <a:srgbClr val="94A1B2"/>
                </a:solidFill>
                <a:latin typeface="Inter"/>
                <a:ea typeface="Inter"/>
              </a:rPr>
              <a:t>(Apache 2.0)</a:t>
            </a:r>
          </a:p>
        </p:txBody>
      </p:sp>
      <p:sp>
        <p:nvSpPr>
          <p:cNvPr id="100109" name="TextBox 19"/>
          <p:cNvSpPr txBox="1"/>
          <p:nvPr/>
        </p:nvSpPr>
        <p:spPr>
          <a:xfrm xmlns:a="http://schemas.openxmlformats.org/drawingml/2006/main">
            <a:off x="7200000" y="2664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E"/>
                </a:solidFill>
                <a:latin typeface="Inter"/>
                <a:ea typeface="Inter"/>
              </a:rPr>
              <a:t>项目代码只负责三件事：</a:t>
            </a:r>
          </a:p>
        </p:txBody>
      </p:sp>
      <p:sp>
        <p:nvSpPr>
          <p:cNvPr id="100110" name="TextBox 20"/>
          <p:cNvSpPr txBox="1"/>
          <p:nvPr/>
        </p:nvSpPr>
        <p:spPr>
          <a:xfrm xmlns:a="http://schemas.openxmlformats.org/drawingml/2006/main">
            <a:off x="7200000" y="288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1. TerminalView 的输入处理</a:t>
            </a:r>
          </a:p>
        </p:txBody>
      </p:sp>
      <p:sp>
        <p:nvSpPr>
          <p:cNvPr id="100111" name="TextBox 21"/>
          <p:cNvSpPr txBox="1"/>
          <p:nvPr/>
        </p:nvSpPr>
        <p:spPr>
          <a:xfrm xmlns:a="http://schemas.openxmlformats.org/drawingml/2006/main">
            <a:off x="7200000" y="306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2. InputConnection 的 IME 对接</a:t>
            </a:r>
          </a:p>
        </p:txBody>
      </p:sp>
      <p:sp>
        <p:nvSpPr>
          <p:cNvPr id="100112" name="TextBox 22"/>
          <p:cNvSpPr txBox="1"/>
          <p:nvPr/>
        </p:nvSpPr>
        <p:spPr>
          <a:xfrm xmlns:a="http://schemas.openxmlformats.org/drawingml/2006/main">
            <a:off x="7200000" y="324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3. SSH 数据流的接入</a:t>
            </a:r>
          </a:p>
        </p:txBody>
      </p:sp>
      <p:sp>
        <p:nvSpPr>
          <p:cNvPr id="100113" name="TextBox 23"/>
          <p:cNvSpPr txBox="1"/>
          <p:nvPr/>
        </p:nvSpPr>
        <p:spPr>
          <a:xfrm xmlns:a="http://schemas.openxmlformats.org/drawingml/2006/main">
            <a:off x="7200000" y="360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94A1B2"/>
                </a:solidFill>
                <a:latin typeface="Inter"/>
                <a:ea typeface="Inter"/>
              </a:rPr>
              <a:t>→ 释放出 100% 精力做 IME 差异化</a:t>
            </a:r>
          </a:p>
        </p:txBody>
      </p:sp>
      <p:sp>
        <p:nvSpPr>
          <p:cNvPr id="100114" name="TextBox 24"/>
          <p:cNvSpPr txBox="1"/>
          <p:nvPr/>
        </p:nvSpPr>
        <p:spPr>
          <a:xfrm xmlns:a="http://schemas.openxmlformats.org/drawingml/2006/main">
            <a:off x="7200000" y="378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94A1B2"/>
                </a:solidFill>
                <a:latin typeface="Inter"/>
                <a:ea typeface="Inter"/>
              </a:rPr>
              <a:t>   Sprint 0 末就能跑通真 Vim 渲染</a:t>
            </a:r>
          </a:p>
        </p:txBody>
      </p:sp>
      <p:sp>
        <p:nvSpPr>
          <p:cNvPr id="100115" name="TextBox 25"/>
          <p:cNvSpPr txBox="1"/>
          <p:nvPr/>
        </p:nvSpPr>
        <p:spPr>
          <a:xfrm xmlns:a="http://schemas.openxmlformats.org/drawingml/2006/main">
            <a:off x="540000" y="5328000"/>
            <a:ext cx="109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FF6B6B"/>
                </a:solidFill>
                <a:latin typeface="JetBrains Mono"/>
                <a:ea typeface="JetBrains Mono"/>
              </a:rPr>
              <a:t>架构约束：terminal-emulator 黑盒使用 · 任何修改其内部的冲动都必须先开 Issue 讨论 · PR 违反直接关</a:t>
            </a:r>
          </a:p>
        </p:txBody>
      </p:sp>
      <p:sp>
        <p:nvSpPr>
          <p:cNvPr id="100116" name="TextBox 26"/>
          <p:cNvSpPr txBox="1"/>
          <p:nvPr/>
        </p:nvSpPr>
        <p:spPr>
          <a:xfrm xmlns:a="http://schemas.openxmlformats.org/drawingml/2006/main">
            <a:off x="10440000" y="6480000"/>
            <a:ext cx="14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E7681"/>
                </a:solidFill>
                <a:latin typeface="JetBrains Mono"/>
                <a:ea typeface="JetBrains Mono"/>
              </a:rPr>
              <a:t>05 / 12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117" name="TextBox 1"/>
          <p:cNvSpPr txBox="1"/>
          <p:nvPr/>
        </p:nvSpPr>
        <p:spPr>
          <a:xfrm xmlns:a="http://schemas.openxmlformats.org/drawingml/2006/main">
            <a:off x="360000" y="288000"/>
            <a:ext cx="28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04 · KEY DECISIONS</a:t>
            </a:r>
          </a:p>
        </p:txBody>
      </p:sp>
      <p:sp>
        <p:nvSpPr>
          <p:cNvPr id="100118" name="TextBox 2"/>
          <p:cNvSpPr txBox="1"/>
          <p:nvPr/>
        </p:nvSpPr>
        <p:spPr>
          <a:xfrm xmlns:a="http://schemas.openxmlformats.org/drawingml/2006/main">
            <a:off x="360000" y="504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E"/>
                </a:solidFill>
                <a:latin typeface="Inter"/>
                <a:ea typeface="Inter"/>
              </a:rPr>
              <a:t>IME 体系修复：InputType + Gboard 竞态</a:t>
            </a:r>
          </a:p>
        </p:txBody>
      </p:sp>
      <p:sp>
        <p:nvSpPr>
          <p:cNvPr id="100119" name="TextBox 3"/>
          <p:cNvSpPr txBox="1"/>
          <p:nvPr/>
        </p:nvSpPr>
        <p:spPr>
          <a:xfrm xmlns:a="http://schemas.openxmlformats.org/drawingml/2006/main">
            <a:off x="360000" y="972000"/>
            <a:ext cx="10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1B2"/>
                </a:solidFill>
                <a:latin typeface="Inter"/>
                <a:ea typeface="Inter"/>
              </a:rPr>
              <a:t>Sprint 2 接入真 SSH 后才暴露的两层 bug，一并修掉</a:t>
            </a:r>
          </a:p>
        </p:txBody>
      </p:sp>
      <p:sp>
        <p:nvSpPr>
          <p:cNvPr id="100120" name="TextBox 4"/>
          <p:cNvSpPr txBox="1"/>
          <p:nvPr/>
        </p:nvSpPr>
        <p:spPr>
          <a:xfrm xmlns:a="http://schemas.openxmlformats.org/drawingml/2006/main">
            <a:off x="540000" y="1404000"/>
            <a:ext cx="109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7F5AF0"/>
                </a:solidFill>
                <a:latin typeface="JetBrains Mono"/>
                <a:ea typeface="JetBrains Mono"/>
              </a:rPr>
              <a:t>A. InputType 修复 — TerminalView.onCreateInputConnection</a:t>
            </a:r>
          </a:p>
        </p:txBody>
      </p:sp>
      <p:sp>
        <p:nvSpPr>
          <p:cNvPr id="100121" name="TextBox 5"/>
          <p:cNvSpPr/>
          <p:nvPr/>
        </p:nvSpPr>
        <p:spPr>
          <a:xfrm xmlns:a="http://schemas.openxmlformats.org/drawingml/2006/main">
            <a:off x="540000" y="1656000"/>
            <a:ext cx="54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E"/>
          </a:solidFill>
          <a:ln xmlns:a="http://schemas.openxmlformats.org/drawingml/2006/main" w="6350">
            <a:solidFill>
              <a:srgbClr val="FF6B6B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122" name="TextBox 6"/>
          <p:cNvSpPr txBox="1"/>
          <p:nvPr/>
        </p:nvSpPr>
        <p:spPr>
          <a:xfrm xmlns:a="http://schemas.openxmlformats.org/drawingml/2006/main">
            <a:off x="612000" y="1728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FF6B6B"/>
                </a:solidFill>
                <a:latin typeface="JetBrains Mono"/>
                <a:ea typeface="JetBrains Mono"/>
              </a:rPr>
              <a:t>// ✗ 错误：IME 候选词、删除、光标移动全废</a:t>
            </a:r>
          </a:p>
        </p:txBody>
      </p:sp>
      <p:sp>
        <p:nvSpPr>
          <p:cNvPr id="100123" name="TextBox 7"/>
          <p:cNvSpPr txBox="1"/>
          <p:nvPr/>
        </p:nvSpPr>
        <p:spPr>
          <a:xfrm xmlns:a="http://schemas.openxmlformats.org/drawingml/2006/main">
            <a:off x="612000" y="1872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outAttrs.inputType = InputType.TYPE_NULL</a:t>
            </a:r>
          </a:p>
        </p:txBody>
      </p:sp>
      <p:sp>
        <p:nvSpPr>
          <p:cNvPr id="100124" name="TextBox 8"/>
          <p:cNvSpPr txBox="1"/>
          <p:nvPr/>
        </p:nvSpPr>
        <p:spPr>
          <a:xfrm xmlns:a="http://schemas.openxmlformats.org/drawingml/2006/main">
            <a:off x="612000" y="2052000"/>
            <a:ext cx="5220000" cy="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125" name="TextBox 9"/>
          <p:cNvSpPr txBox="1"/>
          <p:nvPr/>
        </p:nvSpPr>
        <p:spPr>
          <a:xfrm xmlns:a="http://schemas.openxmlformats.org/drawingml/2006/main">
            <a:off x="612000" y="2160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FF6B6B"/>
                </a:solidFill>
                <a:latin typeface="JetBrains Mono"/>
                <a:ea typeface="JetBrains Mono"/>
              </a:rPr>
              <a:t>// ✗ 错误：中文 IME 的候选词 UI 被吞</a:t>
            </a:r>
          </a:p>
        </p:txBody>
      </p:sp>
      <p:sp>
        <p:nvSpPr>
          <p:cNvPr id="100126" name="TextBox 10"/>
          <p:cNvSpPr txBox="1"/>
          <p:nvPr/>
        </p:nvSpPr>
        <p:spPr>
          <a:xfrm xmlns:a="http://schemas.openxmlformats.org/drawingml/2006/main">
            <a:off x="612000" y="2304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or InputType.TYPE_TEXT_FLAG_NO_SUGGESTIONS</a:t>
            </a:r>
          </a:p>
        </p:txBody>
      </p:sp>
      <p:sp>
        <p:nvSpPr>
          <p:cNvPr id="100127" name="TextBox 11"/>
          <p:cNvSpPr txBox="1"/>
          <p:nvPr/>
        </p:nvSpPr>
        <p:spPr>
          <a:xfrm xmlns:a="http://schemas.openxmlformats.org/drawingml/2006/main">
            <a:off x="612000" y="2484000"/>
            <a:ext cx="5220000" cy="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128" name="TextBox 12"/>
          <p:cNvSpPr txBox="1"/>
          <p:nvPr/>
        </p:nvSpPr>
        <p:spPr>
          <a:xfrm xmlns:a="http://schemas.openxmlformats.org/drawingml/2006/main">
            <a:off x="612000" y="2592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2CB67D"/>
                </a:solidFill>
                <a:latin typeface="JetBrains Mono"/>
                <a:ea typeface="JetBrains Mono"/>
              </a:rPr>
              <a:t>// ✓ 正确：允许 IME 自由工作</a:t>
            </a:r>
          </a:p>
        </p:txBody>
      </p:sp>
      <p:sp>
        <p:nvSpPr>
          <p:cNvPr id="100129" name="TextBox 13"/>
          <p:cNvSpPr txBox="1"/>
          <p:nvPr/>
        </p:nvSpPr>
        <p:spPr>
          <a:xfrm xmlns:a="http://schemas.openxmlformats.org/drawingml/2006/main">
            <a:off x="612000" y="2736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outAttrs.inputType = TYPE_CLASS_TEXT</a:t>
            </a:r>
          </a:p>
        </p:txBody>
      </p:sp>
      <p:sp>
        <p:nvSpPr>
          <p:cNvPr id="100130" name="TextBox 14"/>
          <p:cNvSpPr txBox="1"/>
          <p:nvPr/>
        </p:nvSpPr>
        <p:spPr>
          <a:xfrm xmlns:a="http://schemas.openxmlformats.org/drawingml/2006/main">
            <a:off x="612000" y="2880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  or TYPE_TEXT_VARIATION_NORMAL</a:t>
            </a:r>
          </a:p>
        </p:txBody>
      </p:sp>
      <p:sp>
        <p:nvSpPr>
          <p:cNvPr id="100131" name="TextBox 15"/>
          <p:cNvSpPr txBox="1"/>
          <p:nvPr/>
        </p:nvSpPr>
        <p:spPr>
          <a:xfrm xmlns:a="http://schemas.openxmlformats.org/drawingml/2006/main">
            <a:off x="612000" y="3024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  or TYPE_TEXT_FLAG_MULTI_LINE</a:t>
            </a:r>
          </a:p>
        </p:txBody>
      </p:sp>
      <p:sp>
        <p:nvSpPr>
          <p:cNvPr id="100132" name="TextBox 16"/>
          <p:cNvSpPr txBox="1"/>
          <p:nvPr/>
        </p:nvSpPr>
        <p:spPr>
          <a:xfrm xmlns:a="http://schemas.openxmlformats.org/drawingml/2006/main">
            <a:off x="612000" y="3168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outAttrs.imeOptions = IME_FLAG_NO_EXTRACT_UI</a:t>
            </a:r>
          </a:p>
        </p:txBody>
      </p:sp>
      <p:sp>
        <p:nvSpPr>
          <p:cNvPr id="100133" name="TextBox 17"/>
          <p:cNvSpPr txBox="1"/>
          <p:nvPr/>
        </p:nvSpPr>
        <p:spPr>
          <a:xfrm xmlns:a="http://schemas.openxmlformats.org/drawingml/2006/main">
            <a:off x="6300000" y="1656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提交记录</a:t>
            </a:r>
          </a:p>
        </p:txBody>
      </p:sp>
      <p:sp>
        <p:nvSpPr>
          <p:cNvPr id="100134" name="TextBox 18"/>
          <p:cNvSpPr txBox="1"/>
          <p:nvPr/>
        </p:nvSpPr>
        <p:spPr>
          <a:xfrm xmlns:a="http://schemas.openxmlformats.org/drawingml/2006/main">
            <a:off x="6300000" y="1872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1d3b62a fix(ime): drop VISIBLE_PASSWORD/</a:t>
            </a:r>
          </a:p>
        </p:txBody>
      </p:sp>
      <p:sp>
        <p:nvSpPr>
          <p:cNvPr id="100135" name="TextBox 19"/>
          <p:cNvSpPr txBox="1"/>
          <p:nvPr/>
        </p:nvSpPr>
        <p:spPr>
          <a:xfrm xmlns:a="http://schemas.openxmlformats.org/drawingml/2006/main">
            <a:off x="6300000" y="1998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NO_SUGGESTIONS so Chinese IME can compose</a:t>
            </a:r>
          </a:p>
        </p:txBody>
      </p:sp>
      <p:sp>
        <p:nvSpPr>
          <p:cNvPr id="100136" name="TextBox 20"/>
          <p:cNvSpPr txBox="1"/>
          <p:nvPr/>
        </p:nvSpPr>
        <p:spPr>
          <a:xfrm xmlns:a="http://schemas.openxmlformats.org/drawingml/2006/main">
            <a:off x="6300000" y="2304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修复了什么</a:t>
            </a:r>
          </a:p>
        </p:txBody>
      </p:sp>
      <p:sp>
        <p:nvSpPr>
          <p:cNvPr id="100137" name="TextBox 21"/>
          <p:cNvSpPr txBox="1"/>
          <p:nvPr/>
        </p:nvSpPr>
        <p:spPr>
          <a:xfrm xmlns:a="http://schemas.openxmlformats.org/drawingml/2006/main">
            <a:off x="6300000" y="2520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Gboard / 搜狗可以显示候选词</a:t>
            </a:r>
          </a:p>
        </p:txBody>
      </p:sp>
      <p:sp>
        <p:nvSpPr>
          <p:cNvPr id="100138" name="TextBox 22"/>
          <p:cNvSpPr txBox="1"/>
          <p:nvPr/>
        </p:nvSpPr>
        <p:spPr>
          <a:xfrm xmlns:a="http://schemas.openxmlformats.org/drawingml/2006/main">
            <a:off x="6300000" y="2682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拼音 composing 状态正常上报</a:t>
            </a:r>
          </a:p>
        </p:txBody>
      </p:sp>
      <p:sp>
        <p:nvSpPr>
          <p:cNvPr id="100139" name="TextBox 23"/>
          <p:cNvSpPr txBox="1"/>
          <p:nvPr/>
        </p:nvSpPr>
        <p:spPr>
          <a:xfrm xmlns:a="http://schemas.openxmlformats.org/drawingml/2006/main">
            <a:off x="6300000" y="2844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中文 / 日文 / 韩文 IME 不再被屏蔽</a:t>
            </a:r>
          </a:p>
        </p:txBody>
      </p:sp>
      <p:sp>
        <p:nvSpPr>
          <p:cNvPr id="100140" name="TextBox 24"/>
          <p:cNvSpPr txBox="1"/>
          <p:nvPr/>
        </p:nvSpPr>
        <p:spPr>
          <a:xfrm xmlns:a="http://schemas.openxmlformats.org/drawingml/2006/main">
            <a:off x="6300000" y="3006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不显示全屏提取 UI（不挡终端）</a:t>
            </a:r>
          </a:p>
        </p:txBody>
      </p:sp>
      <p:sp>
        <p:nvSpPr>
          <p:cNvPr id="100141" name="TextBox 25"/>
          <p:cNvSpPr txBox="1"/>
          <p:nvPr/>
        </p:nvSpPr>
        <p:spPr>
          <a:xfrm xmlns:a="http://schemas.openxmlformats.org/drawingml/2006/main">
            <a:off x="540000" y="3456000"/>
            <a:ext cx="109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7F5AF0"/>
                </a:solidFill>
                <a:latin typeface="JetBrains Mono"/>
                <a:ea typeface="JetBrains Mono"/>
              </a:rPr>
              <a:t>B. Gboard 竞态修复 — userInImeContext 锁存标志</a:t>
            </a:r>
          </a:p>
        </p:txBody>
      </p:sp>
      <p:sp>
        <p:nvSpPr>
          <p:cNvPr id="100142" name="TextBox 26"/>
          <p:cNvSpPr/>
          <p:nvPr/>
        </p:nvSpPr>
        <p:spPr>
          <a:xfrm xmlns:a="http://schemas.openxmlformats.org/drawingml/2006/main">
            <a:off x="540000" y="3708000"/>
            <a:ext cx="54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E"/>
          </a:solidFill>
          <a:ln xmlns:a="http://schemas.openxmlformats.org/drawingml/2006/main" w="6350">
            <a:solidFill>
              <a:srgbClr val="7F5AF0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143" name="TextBox 27"/>
          <p:cNvSpPr txBox="1"/>
          <p:nvPr/>
        </p:nvSpPr>
        <p:spPr>
          <a:xfrm xmlns:a="http://schemas.openxmlformats.org/drawingml/2006/main">
            <a:off x="612000" y="3762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1B2"/>
                </a:solidFill>
                <a:latin typeface="JetBrains Mono"/>
                <a:ea typeface="JetBrains Mono"/>
              </a:rPr>
              <a:t>Gboard 取消拼音的同一事务里：</a:t>
            </a:r>
          </a:p>
        </p:txBody>
      </p:sp>
      <p:sp>
        <p:nvSpPr>
          <p:cNvPr id="100144" name="TextBox 28"/>
          <p:cNvSpPr txBox="1"/>
          <p:nvPr/>
        </p:nvSpPr>
        <p:spPr>
          <a:xfrm xmlns:a="http://schemas.openxmlformats.org/drawingml/2006/main">
            <a:off x="612000" y="3924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6B6B"/>
                </a:solidFill>
                <a:latin typeface="JetBrains Mono"/>
                <a:ea typeface="JetBrains Mono"/>
              </a:rPr>
              <a:t>1. setComposingText("")    → isComposing 翻成 false</a:t>
            </a:r>
          </a:p>
        </p:txBody>
      </p:sp>
      <p:sp>
        <p:nvSpPr>
          <p:cNvPr id="100145" name="TextBox 29"/>
          <p:cNvSpPr txBox="1"/>
          <p:nvPr/>
        </p:nvSpPr>
        <p:spPr>
          <a:xfrm xmlns:a="http://schemas.openxmlformats.org/drawingml/2006/main">
            <a:off x="612000" y="4086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2. deleteSurroundingText(1, 0)</a:t>
            </a:r>
          </a:p>
        </p:txBody>
      </p:sp>
      <p:sp>
        <p:nvSpPr>
          <p:cNvPr id="100146" name="TextBox 30"/>
          <p:cNvSpPr txBox="1"/>
          <p:nvPr/>
        </p:nvSpPr>
        <p:spPr>
          <a:xfrm xmlns:a="http://schemas.openxmlformats.org/drawingml/2006/main">
            <a:off x="612000" y="4266000"/>
            <a:ext cx="5220000" cy="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147" name="TextBox 31"/>
          <p:cNvSpPr txBox="1"/>
          <p:nvPr/>
        </p:nvSpPr>
        <p:spPr>
          <a:xfrm xmlns:a="http://schemas.openxmlformats.org/drawingml/2006/main">
            <a:off x="612000" y="4374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1B2"/>
                </a:solidFill>
                <a:latin typeface="JetBrains Mono"/>
                <a:ea typeface="JetBrains Mono"/>
              </a:rPr>
              <a:t>如果不锁存：deleteSurroundingText 看到非组合</a:t>
            </a:r>
          </a:p>
        </p:txBody>
      </p:sp>
      <p:sp>
        <p:nvSpPr>
          <p:cNvPr id="100148" name="TextBox 32"/>
          <p:cNvSpPr txBox="1"/>
          <p:nvPr/>
        </p:nvSpPr>
        <p:spPr>
          <a:xfrm xmlns:a="http://schemas.openxmlformats.org/drawingml/2006/main">
            <a:off x="612000" y="4536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6B6B"/>
                </a:solidFill>
                <a:latin typeface="JetBrains Mono"/>
                <a:ea typeface="JetBrains Mono"/>
              </a:rPr>
              <a:t>→  把 0x7F (DEL) 发到 SSH → 远端被误删</a:t>
            </a:r>
          </a:p>
        </p:txBody>
      </p:sp>
      <p:sp>
        <p:nvSpPr>
          <p:cNvPr id="100149" name="TextBox 33"/>
          <p:cNvSpPr txBox="1"/>
          <p:nvPr/>
        </p:nvSpPr>
        <p:spPr>
          <a:xfrm xmlns:a="http://schemas.openxmlformats.org/drawingml/2006/main">
            <a:off x="612000" y="4734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如果锁存：deleteSurroundingText 走 IME 通道</a:t>
            </a:r>
          </a:p>
        </p:txBody>
      </p:sp>
      <p:sp>
        <p:nvSpPr>
          <p:cNvPr id="100150" name="TextBox 34"/>
          <p:cNvSpPr txBox="1"/>
          <p:nvPr/>
        </p:nvSpPr>
        <p:spPr>
          <a:xfrm xmlns:a="http://schemas.openxmlformats.org/drawingml/2006/main">
            <a:off x="612000" y="4878000"/>
            <a:ext cx="52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→  远端毫发无损</a:t>
            </a:r>
          </a:p>
        </p:txBody>
      </p:sp>
      <p:sp>
        <p:nvSpPr>
          <p:cNvPr id="100151" name="TextBox 35"/>
          <p:cNvSpPr txBox="1"/>
          <p:nvPr/>
        </p:nvSpPr>
        <p:spPr>
          <a:xfrm xmlns:a="http://schemas.openxmlformats.org/drawingml/2006/main">
            <a:off x="6300000" y="3708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锁存规则</a:t>
            </a:r>
          </a:p>
        </p:txBody>
      </p:sp>
      <p:sp>
        <p:nvSpPr>
          <p:cNvPr id="100152" name="TextBox 36"/>
          <p:cNvSpPr txBox="1"/>
          <p:nvPr/>
        </p:nvSpPr>
        <p:spPr>
          <a:xfrm xmlns:a="http://schemas.openxmlformats.org/drawingml/2006/main">
            <a:off x="6300000" y="3906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TerminalInputConnection 维护独立</a:t>
            </a:r>
          </a:p>
        </p:txBody>
      </p:sp>
      <p:sp>
        <p:nvSpPr>
          <p:cNvPr id="100153" name="TextBox 37"/>
          <p:cNvSpPr txBox="1"/>
          <p:nvPr/>
        </p:nvSpPr>
        <p:spPr>
          <a:xfrm xmlns:a="http://schemas.openxmlformats.org/drawingml/2006/main">
            <a:off x="6300000" y="4050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CB67D"/>
                </a:solidFill>
                <a:latin typeface="JetBrains Mono"/>
                <a:ea typeface="JetBrains Mono"/>
              </a:rPr>
              <a:t>userInImeContext 标志</a:t>
            </a:r>
          </a:p>
        </p:txBody>
      </p:sp>
      <p:sp>
        <p:nvSpPr>
          <p:cNvPr id="100154" name="TextBox 38"/>
          <p:cNvSpPr txBox="1"/>
          <p:nvPr/>
        </p:nvSpPr>
        <p:spPr>
          <a:xfrm xmlns:a="http://schemas.openxmlformats.org/drawingml/2006/main">
            <a:off x="6300000" y="4248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一旦进过 composing / commit / finish，</a:t>
            </a:r>
          </a:p>
        </p:txBody>
      </p:sp>
      <p:sp>
        <p:nvSpPr>
          <p:cNvPr id="100155" name="TextBox 39"/>
          <p:cNvSpPr txBox="1"/>
          <p:nvPr/>
        </p:nvSpPr>
        <p:spPr>
          <a:xfrm xmlns:a="http://schemas.openxmlformats.org/drawingml/2006/main">
            <a:off x="6300000" y="4392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锁存保持 true</a:t>
            </a:r>
          </a:p>
        </p:txBody>
      </p:sp>
      <p:sp>
        <p:nvSpPr>
          <p:cNvPr id="100156" name="TextBox 40"/>
          <p:cNvSpPr txBox="1"/>
          <p:nvPr/>
        </p:nvSpPr>
        <p:spPr>
          <a:xfrm xmlns:a="http://schemas.openxmlformats.org/drawingml/2006/main">
            <a:off x="6300000" y="4572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直到一次真正的非</a:t>
            </a:r>
          </a:p>
        </p:txBody>
      </p:sp>
      <p:sp>
        <p:nvSpPr>
          <p:cNvPr id="100157" name="TextBox 41"/>
          <p:cNvSpPr txBox="1"/>
          <p:nvPr/>
        </p:nvSpPr>
        <p:spPr>
          <a:xfrm xmlns:a="http://schemas.openxmlformats.org/drawingml/2006/main">
            <a:off x="6300000" y="4770000"/>
            <a:ext cx="504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→  11 个测试用例钉死（含 Gboard 套件）</a:t>
            </a:r>
          </a:p>
        </p:txBody>
      </p:sp>
      <p:sp>
        <p:nvSpPr>
          <p:cNvPr id="100158" name="TextBox 42"/>
          <p:cNvSpPr txBox="1"/>
          <p:nvPr/>
        </p:nvSpPr>
        <p:spPr>
          <a:xfrm xmlns:a="http://schemas.openxmlformats.org/drawingml/2006/main">
            <a:off x="10440000" y="6480000"/>
            <a:ext cx="14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E7681"/>
                </a:solidFill>
                <a:latin typeface="JetBrains Mono"/>
                <a:ea typeface="JetBrains Mono"/>
              </a:rPr>
              <a:t>06 / 12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159" name="TextBox 1"/>
          <p:cNvSpPr txBox="1"/>
          <p:nvPr/>
        </p:nvSpPr>
        <p:spPr>
          <a:xfrm xmlns:a="http://schemas.openxmlformats.org/drawingml/2006/main">
            <a:off x="360000" y="288000"/>
            <a:ext cx="28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04 · KEY DECISIONS</a:t>
            </a:r>
          </a:p>
        </p:txBody>
      </p:sp>
      <p:sp>
        <p:nvSpPr>
          <p:cNvPr id="100160" name="TextBox 2"/>
          <p:cNvSpPr txBox="1"/>
          <p:nvPr/>
        </p:nvSpPr>
        <p:spPr>
          <a:xfrm xmlns:a="http://schemas.openxmlformats.org/drawingml/2006/main">
            <a:off x="360000" y="504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E"/>
                </a:solidFill>
                <a:latin typeface="Inter"/>
                <a:ea typeface="Inter"/>
              </a:rPr>
              <a:t>SSH 接口：4 方法窄接口 + 单线程 outbound</a:t>
            </a:r>
          </a:p>
        </p:txBody>
      </p:sp>
      <p:sp>
        <p:nvSpPr>
          <p:cNvPr id="100161" name="TextBox 3"/>
          <p:cNvSpPr txBox="1"/>
          <p:nvPr/>
        </p:nvSpPr>
        <p:spPr>
          <a:xfrm xmlns:a="http://schemas.openxmlformats.org/drawingml/2006/main">
            <a:off x="360000" y="972000"/>
            <a:ext cx="10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1B2"/>
                </a:solidFill>
                <a:latin typeface="Inter"/>
                <a:ea typeface="Inter"/>
              </a:rPr>
              <a:t>解耦 SSHJ 700 行 Channel 抽象 + 避免字节交错</a:t>
            </a:r>
          </a:p>
        </p:txBody>
      </p:sp>
      <p:sp>
        <p:nvSpPr>
          <p:cNvPr id="100162" name="TextBox 4"/>
          <p:cNvSpPr txBox="1"/>
          <p:nvPr/>
        </p:nvSpPr>
        <p:spPr>
          <a:xfrm>
            <a:off x="540000" y="1404000"/>
            <a:ext cx="10980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400" b="1">
                <a:solidFill>
                  <a:srgbClr val="7F5AF0"/>
                </a:solidFill>
                <a:latin typeface="JetBrains Mono"/>
                <a:ea typeface="JetBrains Mono"/>
              </a:rPr>
              <a:t>SshTransport — 4 方法窄接口</a:t>
            </a:r>
          </a:p>
        </p:txBody>
      </p:sp>
      <p:sp>
        <p:nvSpPr>
          <p:cNvPr id="100163" name="TextBox 5"/>
          <p:cNvSpPr/>
          <p:nvPr/>
        </p:nvSpPr>
        <p:spPr>
          <a:xfrm>
            <a:off x="540000" y="1620000"/>
            <a:ext cx="10980000" cy="1080000"/>
          </a:xfrm>
          <a:prstGeom prst="rect">
            <a:avLst/>
          </a:prstGeom>
          <a:solidFill>
            <a:srgbClr val="0A0A0E"/>
          </a:solidFill>
          <a:ln w="6350">
            <a:solidFill>
              <a:srgbClr val="2CB67D"/>
            </a:solidFill>
          </a:ln>
        </p:spPr>
        <p:txBody>
          <a:bodyPr>
            <a:normAutofit/>
          </a:bodyPr>
          <a:lstStyle/>
          <a:p/>
        </p:txBody>
      </p:sp>
      <p:sp>
        <p:nvSpPr>
          <p:cNvPr id="100164" name="TextBox 6"/>
          <p:cNvSpPr txBox="1"/>
          <p:nvPr/>
        </p:nvSpPr>
        <p:spPr>
          <a:xfrm>
            <a:off x="648000" y="1692000"/>
            <a:ext cx="1062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300">
                <a:solidFill>
                  <a:srgbClr val="7F5AF0"/>
                </a:solidFill>
                <a:latin typeface="JetBrains Mono"/>
                <a:ea typeface="JetBrains Mono"/>
              </a:rPr>
              <a:t>interface SshTransport {</a:t>
            </a:r>
          </a:p>
        </p:txBody>
      </p:sp>
      <p:sp>
        <p:nvSpPr>
          <p:cNvPr id="100165" name="TextBox 7"/>
          <p:cNvSpPr txBox="1"/>
          <p:nvPr/>
        </p:nvSpPr>
        <p:spPr>
          <a:xfrm>
            <a:off x="648000" y="1836000"/>
            <a:ext cx="1062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    fun write(bytes: ByteArray, offset: Int, length: Int)</a:t>
            </a:r>
          </a:p>
        </p:txBody>
      </p:sp>
      <p:sp>
        <p:nvSpPr>
          <p:cNvPr id="100166" name="TextBox 8"/>
          <p:cNvSpPr txBox="1"/>
          <p:nvPr/>
        </p:nvSpPr>
        <p:spPr>
          <a:xfrm>
            <a:off x="648000" y="1980000"/>
            <a:ext cx="1062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    fun readBytes(): ByteArray</a:t>
            </a:r>
          </a:p>
        </p:txBody>
      </p:sp>
      <p:sp>
        <p:nvSpPr>
          <p:cNvPr id="100167" name="TextBox 9"/>
          <p:cNvSpPr txBox="1"/>
          <p:nvPr/>
        </p:nvSpPr>
        <p:spPr>
          <a:xfrm>
            <a:off x="648000" y="2124000"/>
            <a:ext cx="1062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    fun resizePty(cols: Int, rows: Int)</a:t>
            </a:r>
          </a:p>
        </p:txBody>
      </p:sp>
      <p:sp>
        <p:nvSpPr>
          <p:cNvPr id="100168" name="TextBox 10"/>
          <p:cNvSpPr txBox="1"/>
          <p:nvPr/>
        </p:nvSpPr>
        <p:spPr>
          <a:xfrm>
            <a:off x="648000" y="2268000"/>
            <a:ext cx="1062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    fun close()</a:t>
            </a:r>
          </a:p>
        </p:txBody>
      </p:sp>
      <p:sp>
        <p:nvSpPr>
          <p:cNvPr id="100169" name="TextBox 11"/>
          <p:cNvSpPr txBox="1"/>
          <p:nvPr/>
        </p:nvSpPr>
        <p:spPr>
          <a:xfrm>
            <a:off x="648000" y="2412000"/>
            <a:ext cx="1062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300">
                <a:solidFill>
                  <a:srgbClr val="7F5AF0"/>
                </a:solidFill>
                <a:latin typeface="JetBrains Mono"/>
                <a:ea typeface="JetBrains Mono"/>
              </a:rPr>
              <a:t>}</a:t>
            </a:r>
          </a:p>
        </p:txBody>
      </p:sp>
      <p:sp>
        <p:nvSpPr>
          <p:cNvPr id="100170" name="TextBox 12"/>
          <p:cNvSpPr/>
          <p:nvPr/>
        </p:nvSpPr>
        <p:spPr>
          <a:xfrm>
            <a:off x="540000" y="2880000"/>
            <a:ext cx="3492000" cy="14400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12700">
            <a:solidFill>
              <a:srgbClr val="7F5AF0"/>
            </a:solidFill>
          </a:ln>
        </p:spPr>
        <p:txBody>
          <a:bodyPr>
            <a:normAutofit/>
          </a:bodyPr>
          <a:lstStyle/>
          <a:p/>
        </p:txBody>
      </p:sp>
      <p:sp>
        <p:nvSpPr>
          <p:cNvPr id="100171" name="TextBox 13"/>
          <p:cNvSpPr txBox="1"/>
          <p:nvPr/>
        </p:nvSpPr>
        <p:spPr>
          <a:xfrm>
            <a:off x="648000" y="2952000"/>
            <a:ext cx="3312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 b="1">
                <a:solidFill>
                  <a:srgbClr val="FF6B6B"/>
                </a:solidFill>
                <a:latin typeface="JetBrains Mono"/>
                <a:ea typeface="JetBrains Mono"/>
              </a:rPr>
              <a:t>SSHJ Channel = 700 行抽象类</a:t>
            </a:r>
          </a:p>
        </p:txBody>
      </p:sp>
      <p:sp>
        <p:nvSpPr>
          <p:cNvPr id="100172" name="TextBox 14"/>
          <p:cNvSpPr txBox="1"/>
          <p:nvPr/>
        </p:nvSpPr>
        <p:spPr>
          <a:xfrm>
            <a:off x="648000" y="3132000"/>
            <a:ext cx="331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30+ 抽象方法</a:t>
            </a:r>
          </a:p>
        </p:txBody>
      </p:sp>
      <p:sp>
        <p:nvSpPr>
          <p:cNvPr id="100173" name="TextBox 15"/>
          <p:cNvSpPr txBox="1"/>
          <p:nvPr/>
        </p:nvSpPr>
        <p:spPr>
          <a:xfrm>
            <a:off x="648000" y="3276000"/>
            <a:ext cx="331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mock 出来既脆弱又跟 sshj 版本强耦合</a:t>
            </a:r>
          </a:p>
        </p:txBody>
      </p:sp>
      <p:sp>
        <p:nvSpPr>
          <p:cNvPr id="100174" name="TextBox 16"/>
          <p:cNvSpPr txBox="1"/>
          <p:nvPr/>
        </p:nvSpPr>
        <p:spPr>
          <a:xfrm>
            <a:off x="648000" y="3546000"/>
            <a:ext cx="331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 b="1">
                <a:solidFill>
                  <a:srgbClr val="2CB67D"/>
                </a:solidFill>
                <a:latin typeface="Inter"/>
                <a:ea typeface="Inter"/>
              </a:rPr>
              <a:t>→ 抽出 SshTransport 接口</a:t>
            </a:r>
          </a:p>
        </p:txBody>
      </p:sp>
      <p:sp>
        <p:nvSpPr>
          <p:cNvPr id="100175" name="TextBox 17"/>
          <p:cNvSpPr txBox="1"/>
          <p:nvPr/>
        </p:nvSpPr>
        <p:spPr>
          <a:xfrm>
            <a:off x="648000" y="3708000"/>
            <a:ext cx="331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   生产 ChannelTransport / 测试 FakeTransport</a:t>
            </a:r>
          </a:p>
        </p:txBody>
      </p:sp>
      <p:sp>
        <p:nvSpPr>
          <p:cNvPr id="100176" name="TextBox 18"/>
          <p:cNvSpPr txBox="1"/>
          <p:nvPr/>
        </p:nvSpPr>
        <p:spPr>
          <a:xfrm>
            <a:off x="648000" y="3852000"/>
            <a:ext cx="331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   SSHJ 升级时只动 ChannelTransport</a:t>
            </a:r>
          </a:p>
        </p:txBody>
      </p:sp>
      <p:sp>
        <p:nvSpPr>
          <p:cNvPr id="100177" name="TextBox 19"/>
          <p:cNvSpPr/>
          <p:nvPr/>
        </p:nvSpPr>
        <p:spPr>
          <a:xfrm>
            <a:off x="4104000" y="2880000"/>
            <a:ext cx="3492000" cy="14400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12700">
            <a:solidFill>
              <a:srgbClr val="7F5AF0"/>
            </a:solidFill>
          </a:ln>
        </p:spPr>
        <p:txBody>
          <a:bodyPr>
            <a:normAutofit/>
          </a:bodyPr>
          <a:lstStyle/>
          <a:p/>
        </p:txBody>
      </p:sp>
      <p:sp>
        <p:nvSpPr>
          <p:cNvPr id="100178" name="TextBox 20"/>
          <p:cNvSpPr txBox="1"/>
          <p:nvPr/>
        </p:nvSpPr>
        <p:spPr>
          <a:xfrm>
            <a:off x="4212000" y="2952000"/>
            <a:ext cx="3312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单线程 outbound</a:t>
            </a:r>
          </a:p>
        </p:txBody>
      </p:sp>
      <p:sp>
        <p:nvSpPr>
          <p:cNvPr id="100179" name="TextBox 21"/>
          <p:cNvSpPr txBox="1"/>
          <p:nvPr/>
        </p:nvSpPr>
        <p:spPr>
          <a:xfrm>
            <a:off x="4212000" y="3132000"/>
            <a:ext cx="331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SSHJ OutputStream.write 不能并发</a:t>
            </a:r>
          </a:p>
        </p:txBody>
      </p:sp>
      <p:sp>
        <p:nvSpPr>
          <p:cNvPr id="100180" name="TextBox 22"/>
          <p:cNvSpPr txBox="1"/>
          <p:nvPr/>
        </p:nvSpPr>
        <p:spPr>
          <a:xfrm>
            <a:off x="4212000" y="3276000"/>
            <a:ext cx="331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两次 keystroke 字节会交错</a:t>
            </a:r>
          </a:p>
        </p:txBody>
      </p:sp>
      <p:sp>
        <p:nvSpPr>
          <p:cNvPr id="100181" name="TextBox 23"/>
          <p:cNvSpPr txBox="1"/>
          <p:nvPr/>
        </p:nvSpPr>
        <p:spPr>
          <a:xfrm>
            <a:off x="4212000" y="3546000"/>
            <a:ext cx="331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 b="1">
                <a:solidFill>
                  <a:srgbClr val="2CB67D"/>
                </a:solidFill>
                <a:latin typeface="Inter"/>
                <a:ea typeface="Inter"/>
              </a:rPr>
              <a:t>→ writeExecutor 单线程串行</a:t>
            </a:r>
          </a:p>
        </p:txBody>
      </p:sp>
      <p:sp>
        <p:nvSpPr>
          <p:cNvPr id="100182" name="TextBox 24"/>
          <p:cNvSpPr txBox="1"/>
          <p:nvPr/>
        </p:nvSpPr>
        <p:spPr>
          <a:xfrm>
            <a:off x="4212000" y="3708000"/>
            <a:ext cx="331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   write + resizePty 走同一条队列</a:t>
            </a:r>
          </a:p>
        </p:txBody>
      </p:sp>
      <p:sp>
        <p:nvSpPr>
          <p:cNvPr id="100183" name="TextBox 25"/>
          <p:cNvSpPr txBox="1"/>
          <p:nvPr/>
        </p:nvSpPr>
        <p:spPr>
          <a:xfrm>
            <a:off x="4212000" y="3852000"/>
            <a:ext cx="331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   8 个测试钉死顺序 / empty / close 幂等</a:t>
            </a:r>
          </a:p>
        </p:txBody>
      </p:sp>
      <p:sp>
        <p:nvSpPr>
          <p:cNvPr id="100184" name="TextBox 26"/>
          <p:cNvSpPr/>
          <p:nvPr/>
        </p:nvSpPr>
        <p:spPr>
          <a:xfrm>
            <a:off x="7668000" y="2880000"/>
            <a:ext cx="3852000" cy="14400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12700">
            <a:solidFill>
              <a:srgbClr val="2CB67D"/>
            </a:solidFill>
          </a:ln>
        </p:spPr>
        <p:txBody>
          <a:bodyPr>
            <a:normAutofit/>
          </a:bodyPr>
          <a:lstStyle/>
          <a:p/>
        </p:txBody>
      </p:sp>
      <p:sp>
        <p:nvSpPr>
          <p:cNvPr id="100185" name="TextBox 27"/>
          <p:cNvSpPr txBox="1"/>
          <p:nvPr/>
        </p:nvSpPr>
        <p:spPr>
          <a:xfrm>
            <a:off x="7776000" y="2952000"/>
            <a:ext cx="3672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200" b="1">
                <a:solidFill>
                  <a:srgbClr val="2CB67D"/>
                </a:solidFill>
                <a:latin typeface="JetBrains Mono"/>
                <a:ea typeface="JetBrains Mono"/>
              </a:rPr>
              <a:t>Auth sealed class</a:t>
            </a:r>
          </a:p>
        </p:txBody>
      </p:sp>
      <p:sp>
        <p:nvSpPr>
          <p:cNvPr id="100186" name="TextBox 28"/>
          <p:cNvSpPr txBox="1"/>
          <p:nvPr/>
        </p:nvSpPr>
        <p:spPr>
          <a:xfrm>
            <a:off x="7776000" y="3132000"/>
            <a:ext cx="367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sealed class Auth</a:t>
            </a:r>
          </a:p>
        </p:txBody>
      </p:sp>
      <p:sp>
        <p:nvSpPr>
          <p:cNvPr id="100187" name="TextBox 29"/>
          <p:cNvSpPr txBox="1"/>
          <p:nvPr/>
        </p:nvSpPr>
        <p:spPr>
          <a:xfrm>
            <a:off x="7776000" y="3258000"/>
            <a:ext cx="367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JetBrains Mono"/>
                <a:ea typeface="JetBrains Mono"/>
              </a:rPr>
              <a:t>  PasswordAuth(host, port, user, pass)</a:t>
            </a:r>
          </a:p>
        </p:txBody>
      </p:sp>
      <p:sp>
        <p:nvSpPr>
          <p:cNvPr id="100188" name="TextBox 30"/>
          <p:cNvSpPr txBox="1"/>
          <p:nvPr/>
        </p:nvSpPr>
        <p:spPr>
          <a:xfrm>
            <a:off x="7776000" y="3384000"/>
            <a:ext cx="367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JetBrains Mono"/>
                <a:ea typeface="JetBrains Mono"/>
              </a:rPr>
              <a:t>  PublicKeyAuth(host, port, user, keyFile)</a:t>
            </a:r>
          </a:p>
        </p:txBody>
      </p:sp>
      <p:sp>
        <p:nvSpPr>
          <p:cNvPr id="100189" name="TextBox 31"/>
          <p:cNvSpPr txBox="1"/>
          <p:nvPr/>
        </p:nvSpPr>
        <p:spPr>
          <a:xfrm>
            <a:off x="7776000" y="3636000"/>
            <a:ext cx="367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 b="1">
                <a:solidFill>
                  <a:srgbClr val="2CB67D"/>
                </a:solidFill>
                <a:latin typeface="Inter"/>
                <a:ea typeface="Inter"/>
              </a:rPr>
              <a:t>→ 策略接口 SshAuthProvider</a:t>
            </a:r>
          </a:p>
        </p:txBody>
      </p:sp>
      <p:sp>
        <p:nvSpPr>
          <p:cNvPr id="100190" name="TextBox 32"/>
          <p:cNvSpPr txBox="1"/>
          <p:nvPr/>
        </p:nvSpPr>
        <p:spPr>
          <a:xfrm>
            <a:off x="7776000" y="3780000"/>
            <a:ext cx="367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   新增认证方式编译期强制覆盖</a:t>
            </a:r>
          </a:p>
        </p:txBody>
      </p:sp>
      <p:sp>
        <p:nvSpPr>
          <p:cNvPr id="100191" name="TextBox 33"/>
          <p:cNvSpPr txBox="1"/>
          <p:nvPr/>
        </p:nvSpPr>
        <p:spPr>
          <a:xfrm>
            <a:off x="7776000" y="3924000"/>
            <a:ext cx="3672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   PEM（RSA + Ed25519）round-trip 测试 ✓</a:t>
            </a:r>
          </a:p>
        </p:txBody>
      </p:sp>
      <p:sp>
        <p:nvSpPr>
          <p:cNvPr id="100192" name="TextBox 34"/>
          <p:cNvSpPr txBox="1"/>
          <p:nvPr/>
        </p:nvSpPr>
        <p:spPr>
          <a:xfrm>
            <a:off x="10440000" y="6480000"/>
            <a:ext cx="1440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en-US" sz="1000">
                <a:solidFill>
                  <a:srgbClr val="6E7681"/>
                </a:solidFill>
                <a:latin typeface="JetBrains Mono"/>
                <a:ea typeface="JetBrains Mono"/>
              </a:rPr>
              <a:t>07 / 12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193" name="TextBox 1"/>
          <p:cNvSpPr txBox="1"/>
          <p:nvPr/>
        </p:nvSpPr>
        <p:spPr>
          <a:xfrm xmlns:a="http://schemas.openxmlformats.org/drawingml/2006/main">
            <a:off x="360000" y="288000"/>
            <a:ext cx="28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04 · KEY DECISIONS</a:t>
            </a:r>
          </a:p>
        </p:txBody>
      </p:sp>
      <p:sp>
        <p:nvSpPr>
          <p:cNvPr id="100194" name="TextBox 2"/>
          <p:cNvSpPr txBox="1"/>
          <p:nvPr/>
        </p:nvSpPr>
        <p:spPr>
          <a:xfrm xmlns:a="http://schemas.openxmlformats.org/drawingml/2006/main">
            <a:off x="360000" y="504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E"/>
                </a:solidFill>
                <a:latin typeface="Inter"/>
                <a:ea typeface="Inter"/>
              </a:rPr>
              <a:t>长连接可靠性：keepalive + SO_TIMEOUT + 友好错误</a:t>
            </a:r>
          </a:p>
        </p:txBody>
      </p:sp>
      <p:sp>
        <p:nvSpPr>
          <p:cNvPr id="100195" name="TextBox 3"/>
          <p:cNvSpPr txBox="1"/>
          <p:nvPr/>
        </p:nvSpPr>
        <p:spPr>
          <a:xfrm xmlns:a="http://schemas.openxmlformats.org/drawingml/2006/main">
            <a:off x="360000" y="972000"/>
            <a:ext cx="108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1B2"/>
                </a:solidFill>
                <a:latin typeface="Inter"/>
                <a:ea typeface="Inter"/>
              </a:rPr>
              <a:t>移动网络 NAT 静默吃路径 → 30 s 心跳 + 60 s socket 超时 + 用户可读英文</a:t>
            </a:r>
          </a:p>
        </p:txBody>
      </p:sp>
      <p:sp>
        <p:nvSpPr>
          <p:cNvPr id="100196" name="TextBox 4"/>
          <p:cNvSpPr/>
          <p:nvPr/>
        </p:nvSpPr>
        <p:spPr>
          <a:xfrm xmlns:a="http://schemas.openxmlformats.org/drawingml/2006/main">
            <a:off x="540000" y="1404000"/>
            <a:ext cx="3600000" cy="342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19050">
            <a:solidFill>
              <a:srgbClr val="2CB67D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197" name="TextBox 5"/>
          <p:cNvSpPr txBox="1"/>
          <p:nvPr/>
        </p:nvSpPr>
        <p:spPr>
          <a:xfrm xmlns:a="http://schemas.openxmlformats.org/drawingml/2006/main">
            <a:off x="648000" y="1476000"/>
            <a:ext cx="34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CB67D"/>
                </a:solidFill>
                <a:latin typeface="JetBrains Mono"/>
                <a:ea typeface="JetBrains Mono"/>
              </a:rPr>
              <a:t>①  SSH keepalive</a:t>
            </a:r>
          </a:p>
        </p:txBody>
      </p:sp>
      <p:sp>
        <p:nvSpPr>
          <p:cNvPr id="100198" name="TextBox 6"/>
          <p:cNvSpPr txBox="1"/>
          <p:nvPr/>
        </p:nvSpPr>
        <p:spPr>
          <a:xfrm xmlns:a="http://schemas.openxmlformats.org/drawingml/2006/main">
            <a:off x="648000" y="1764000"/>
            <a:ext cx="34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E"/>
                </a:solidFill>
                <a:latin typeface="Inter"/>
                <a:ea typeface="Inter"/>
              </a:rPr>
              <a:t>30s</a:t>
            </a:r>
          </a:p>
        </p:txBody>
      </p:sp>
      <p:sp>
        <p:nvSpPr>
          <p:cNvPr id="100199" name="TextBox 7"/>
          <p:cNvSpPr txBox="1"/>
          <p:nvPr/>
        </p:nvSpPr>
        <p:spPr>
          <a:xfrm xmlns:a="http://schemas.openxmlformats.org/drawingml/2006/main">
            <a:off x="648000" y="2196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94A1B2"/>
                </a:solidFill>
                <a:latin typeface="JetBrains Mono"/>
                <a:ea typeface="JetBrains Mono"/>
              </a:rPr>
              <a:t>SSHJ Connection.setKeepAlive(30)</a:t>
            </a:r>
          </a:p>
        </p:txBody>
      </p:sp>
      <p:sp>
        <p:nvSpPr>
          <p:cNvPr id="100200" name="TextBox 8"/>
          <p:cNvSpPr txBox="1"/>
          <p:nvPr/>
        </p:nvSpPr>
        <p:spPr>
          <a:xfrm xmlns:a="http://schemas.openxmlformats.org/drawingml/2006/main">
            <a:off x="648000" y="2520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FFFFFE"/>
                </a:solidFill>
                <a:latin typeface="Inter"/>
                <a:ea typeface="Inter"/>
              </a:rPr>
              <a:t>主动探测，挡住 60-120s NAT 超时</a:t>
            </a:r>
          </a:p>
        </p:txBody>
      </p:sp>
      <p:sp>
        <p:nvSpPr>
          <p:cNvPr id="100201" name="TextBox 9"/>
          <p:cNvSpPr txBox="1"/>
          <p:nvPr/>
        </p:nvSpPr>
        <p:spPr>
          <a:xfrm xmlns:a="http://schemas.openxmlformats.org/drawingml/2006/main">
            <a:off x="648000" y="2772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 i="1">
                <a:solidFill>
                  <a:srgbClr val="94A1B2"/>
                </a:solidFill>
                <a:latin typeface="Inter"/>
                <a:ea typeface="Inter"/>
              </a:rPr>
              <a:t>→ 多数移动网络在这条主动探测上暴露</a:t>
            </a:r>
          </a:p>
        </p:txBody>
      </p:sp>
      <p:sp>
        <p:nvSpPr>
          <p:cNvPr id="100202" name="TextBox 10"/>
          <p:cNvSpPr/>
          <p:nvPr/>
        </p:nvSpPr>
        <p:spPr>
          <a:xfrm xmlns:a="http://schemas.openxmlformats.org/drawingml/2006/main">
            <a:off x="4212000" y="1404000"/>
            <a:ext cx="3600000" cy="342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F141A"/>
          </a:solidFill>
          <a:ln xmlns:a="http://schemas.openxmlformats.org/drawingml/2006/main" w="19050">
            <a:solidFill>
              <a:srgbClr val="7F5AF0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203" name="TextBox 11"/>
          <p:cNvSpPr txBox="1"/>
          <p:nvPr/>
        </p:nvSpPr>
        <p:spPr>
          <a:xfrm xmlns:a="http://schemas.openxmlformats.org/drawingml/2006/main">
            <a:off x="4320000" y="1476000"/>
            <a:ext cx="34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7F5AF0"/>
                </a:solidFill>
                <a:latin typeface="JetBrains Mono"/>
                <a:ea typeface="JetBrains Mono"/>
              </a:rPr>
              <a:t>②  SO_TIMEOUT 兜底</a:t>
            </a:r>
          </a:p>
        </p:txBody>
      </p:sp>
      <p:sp>
        <p:nvSpPr>
          <p:cNvPr id="100204" name="TextBox 12"/>
          <p:cNvSpPr txBox="1"/>
          <p:nvPr/>
        </p:nvSpPr>
        <p:spPr>
          <a:xfrm xmlns:a="http://schemas.openxmlformats.org/drawingml/2006/main">
            <a:off x="4320000" y="1764000"/>
            <a:ext cx="34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E"/>
                </a:solidFill>
                <a:latin typeface="Inter"/>
                <a:ea typeface="Inter"/>
              </a:rPr>
              <a:t>60s</a:t>
            </a:r>
          </a:p>
        </p:txBody>
      </p:sp>
      <p:sp>
        <p:nvSpPr>
          <p:cNvPr id="100205" name="TextBox 13"/>
          <p:cNvSpPr txBox="1"/>
          <p:nvPr/>
        </p:nvSpPr>
        <p:spPr>
          <a:xfrm xmlns:a="http://schemas.openxmlformats.org/drawingml/2006/main">
            <a:off x="4320000" y="2196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94A1B2"/>
                </a:solidFill>
                <a:latin typeface="JetBrains Mono"/>
                <a:ea typeface="JetBrains Mono"/>
              </a:rPr>
              <a:t>SshConfig.SO_TIMEOUT_MS = 60_000</a:t>
            </a:r>
          </a:p>
        </p:txBody>
      </p:sp>
      <p:sp>
        <p:nvSpPr>
          <p:cNvPr id="100206" name="TextBox 14"/>
          <p:cNvSpPr txBox="1"/>
          <p:nvPr/>
        </p:nvSpPr>
        <p:spPr>
          <a:xfrm xmlns:a="http://schemas.openxmlformats.org/drawingml/2006/main">
            <a:off x="4320000" y="2520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FFFFFE"/>
                </a:solidFill>
                <a:latin typeface="Inter"/>
                <a:ea typeface="Inter"/>
              </a:rPr>
              <a:t>即便 keepalive 也丢，readInto 不再永久阻塞</a:t>
            </a:r>
          </a:p>
        </p:txBody>
      </p:sp>
      <p:sp>
        <p:nvSpPr>
          <p:cNvPr id="100207" name="TextBox 15"/>
          <p:cNvSpPr txBox="1"/>
          <p:nvPr/>
        </p:nvSpPr>
        <p:spPr>
          <a:xfrm xmlns:a="http://schemas.openxmlformats.org/drawingml/2006/main">
            <a:off x="4320000" y="2772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 i="1">
                <a:solidFill>
                  <a:srgbClr val="94A1B2"/>
                </a:solidFill>
                <a:latin typeface="Inter"/>
                <a:ea typeface="Inter"/>
              </a:rPr>
              <a:t>→ SocketTimeoutException 抛出而非冻屏</a:t>
            </a:r>
          </a:p>
        </p:txBody>
      </p:sp>
      <p:sp>
        <p:nvSpPr>
          <p:cNvPr id="100208" name="TextBox 16"/>
          <p:cNvSpPr/>
          <p:nvPr/>
        </p:nvSpPr>
        <p:spPr>
          <a:xfrm xmlns:a="http://schemas.openxmlformats.org/drawingml/2006/main">
            <a:off x="7884000" y="1404000"/>
            <a:ext cx="3600000" cy="342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0F14"/>
          </a:solidFill>
          <a:ln xmlns:a="http://schemas.openxmlformats.org/drawingml/2006/main" w="19050">
            <a:solidFill>
              <a:srgbClr val="FF6B6B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209" name="TextBox 17"/>
          <p:cNvSpPr txBox="1"/>
          <p:nvPr/>
        </p:nvSpPr>
        <p:spPr>
          <a:xfrm xmlns:a="http://schemas.openxmlformats.org/drawingml/2006/main">
            <a:off x="7992000" y="1476000"/>
            <a:ext cx="34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6B6B"/>
                </a:solidFill>
                <a:latin typeface="JetBrains Mono"/>
                <a:ea typeface="JetBrains Mono"/>
              </a:rPr>
              <a:t>③  友好错误</a:t>
            </a:r>
          </a:p>
        </p:txBody>
      </p:sp>
      <p:sp>
        <p:nvSpPr>
          <p:cNvPr id="100210" name="TextBox 18"/>
          <p:cNvSpPr txBox="1"/>
          <p:nvPr/>
        </p:nvSpPr>
        <p:spPr>
          <a:xfrm xmlns:a="http://schemas.openxmlformats.org/drawingml/2006/main">
            <a:off x="7992000" y="1746000"/>
            <a:ext cx="34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94A1B2"/>
                </a:solidFill>
                <a:latin typeface="JetBrains Mono"/>
                <a:ea typeface="JetBrains Mono"/>
              </a:rPr>
              <a:t>SshErrorMessages.friendly()</a:t>
            </a:r>
          </a:p>
        </p:txBody>
      </p:sp>
      <p:sp>
        <p:nvSpPr>
          <p:cNvPr id="100211" name="TextBox 19"/>
          <p:cNvSpPr txBox="1"/>
          <p:nvPr/>
        </p:nvSpPr>
        <p:spPr>
          <a:xfrm xmlns:a="http://schemas.openxmlformats.org/drawingml/2006/main">
            <a:off x="7992000" y="1944000"/>
            <a:ext cx="34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E"/>
                </a:solidFill>
                <a:latin typeface="Inter"/>
                <a:ea typeface="Inter"/>
              </a:rPr>
              <a:t>Throwable → 单行可读英文</a:t>
            </a:r>
          </a:p>
        </p:txBody>
      </p:sp>
      <p:sp>
        <p:nvSpPr>
          <p:cNvPr id="100212" name="TextBox 20"/>
          <p:cNvSpPr txBox="1"/>
          <p:nvPr/>
        </p:nvSpPr>
        <p:spPr>
          <a:xfrm xmlns:a="http://schemas.openxmlformats.org/drawingml/2006/main">
            <a:off x="7992000" y="2268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"Connection timed out. Check your</a:t>
            </a:r>
          </a:p>
        </p:txBody>
      </p:sp>
      <p:sp>
        <p:nvSpPr>
          <p:cNvPr id="100213" name="TextBox 21"/>
          <p:cNvSpPr txBox="1"/>
          <p:nvPr/>
        </p:nvSpPr>
        <p:spPr>
          <a:xfrm xmlns:a="http://schemas.openxmlformats.org/drawingml/2006/main">
            <a:off x="7992000" y="2394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network and the server's address."</a:t>
            </a:r>
          </a:p>
        </p:txBody>
      </p:sp>
      <p:sp>
        <p:nvSpPr>
          <p:cNvPr id="100214" name="TextBox 22"/>
          <p:cNvSpPr txBox="1"/>
          <p:nvPr/>
        </p:nvSpPr>
        <p:spPr>
          <a:xfrm xmlns:a="http://schemas.openxmlformats.org/drawingml/2006/main">
            <a:off x="7992000" y="2736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 i="1">
                <a:solidFill>
                  <a:srgbClr val="94A1B2"/>
                </a:solidFill>
                <a:latin typeface="Inter"/>
                <a:ea typeface="Inter"/>
              </a:rPr>
              <a:t>→ 17 个测试覆盖全分支</a:t>
            </a:r>
          </a:p>
        </p:txBody>
      </p:sp>
      <p:sp>
        <p:nvSpPr>
          <p:cNvPr id="100215" name="TextBox 23"/>
          <p:cNvSpPr txBox="1"/>
          <p:nvPr/>
        </p:nvSpPr>
        <p:spPr>
          <a:xfrm xmlns:a="http://schemas.openxmlformats.org/drawingml/2006/main">
            <a:off x="7992000" y="2880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 i="1">
                <a:solidFill>
                  <a:srgbClr val="94A1B2"/>
                </a:solidFill>
                <a:latin typeface="Inter"/>
                <a:ea typeface="Inter"/>
              </a:rPr>
              <a:t>   sshj 双层 wrap + 自引用 cause 不死循环</a:t>
            </a:r>
          </a:p>
        </p:txBody>
      </p:sp>
      <p:sp>
        <p:nvSpPr>
          <p:cNvPr id="100216" name="TextBox 24"/>
          <p:cNvSpPr txBox="1"/>
          <p:nvPr/>
        </p:nvSpPr>
        <p:spPr>
          <a:xfrm xmlns:a="http://schemas.openxmlformats.org/drawingml/2006/main">
            <a:off x="540000" y="4968000"/>
            <a:ext cx="109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7F5AF0"/>
                </a:solidFill>
                <a:latin typeface="JetBrains Mono"/>
                <a:ea typeface="JetBrains Mono"/>
              </a:rPr>
              <a:t>+ AppLog 写 filesDir/app.log（256KB 轮转）+ Logcat 镜像 + ConnectionLogPanel 一键复制</a:t>
            </a:r>
          </a:p>
        </p:txBody>
      </p:sp>
      <p:sp>
        <p:nvSpPr>
          <p:cNvPr id="100217" name="TextBox 25"/>
          <p:cNvSpPr txBox="1"/>
          <p:nvPr/>
        </p:nvSpPr>
        <p:spPr>
          <a:xfrm xmlns:a="http://schemas.openxmlformats.org/drawingml/2006/main">
            <a:off x="10440000" y="6480000"/>
            <a:ext cx="14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E7681"/>
                </a:solidFill>
                <a:latin typeface="JetBrains Mono"/>
                <a:ea typeface="JetBrains Mono"/>
              </a:rPr>
              <a:t>08 / 12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218" name="TextBox 1"/>
          <p:cNvSpPr txBox="1"/>
          <p:nvPr/>
        </p:nvSpPr>
        <p:spPr>
          <a:xfrm xmlns:a="http://schemas.openxmlformats.org/drawingml/2006/main">
            <a:off x="360000" y="288000"/>
            <a:ext cx="28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04 · KEY DECISIONS</a:t>
            </a:r>
          </a:p>
        </p:txBody>
      </p:sp>
      <p:sp>
        <p:nvSpPr>
          <p:cNvPr id="100219" name="TextBox 2"/>
          <p:cNvSpPr txBox="1"/>
          <p:nvPr/>
        </p:nvSpPr>
        <p:spPr>
          <a:xfrm xmlns:a="http://schemas.openxmlformats.org/drawingml/2006/main">
            <a:off x="360000" y="504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E"/>
                </a:solidFill>
                <a:latin typeface="Inter"/>
                <a:ea typeface="Inter"/>
              </a:rPr>
              <a:t>凭据存储：Keystore + SAF 私钥</a:t>
            </a:r>
          </a:p>
        </p:txBody>
      </p:sp>
      <p:sp>
        <p:nvSpPr>
          <p:cNvPr id="100220" name="TextBox 3"/>
          <p:cNvSpPr txBox="1"/>
          <p:nvPr/>
        </p:nvSpPr>
        <p:spPr>
          <a:xfrm xmlns:a="http://schemas.openxmlformats.org/drawingml/2006/main">
            <a:off x="360000" y="972000"/>
            <a:ext cx="108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1B2"/>
                </a:solidFill>
                <a:latin typeface="Inter"/>
                <a:ea typeface="Inter"/>
              </a:rPr>
              <a:t>Plan C 加密 slot：密码进 Android Keystore AES-256-GCM，私钥走 SAF 私有目录</a:t>
            </a:r>
          </a:p>
        </p:txBody>
      </p:sp>
      <p:sp>
        <p:nvSpPr>
          <p:cNvPr id="100221" name="TextBox 4"/>
          <p:cNvSpPr/>
          <p:nvPr/>
        </p:nvSpPr>
        <p:spPr>
          <a:xfrm xmlns:a="http://schemas.openxmlformats.org/drawingml/2006/main">
            <a:off x="540000" y="1404000"/>
            <a:ext cx="5292000" cy="324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 w="19050">
            <a:solidFill>
              <a:srgbClr val="7F5AF0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222" name="TextBox 5"/>
          <p:cNvSpPr txBox="1"/>
          <p:nvPr/>
        </p:nvSpPr>
        <p:spPr>
          <a:xfrm xmlns:a="http://schemas.openxmlformats.org/drawingml/2006/main">
            <a:off x="648000" y="1476000"/>
            <a:ext cx="51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F5AF0"/>
                </a:solidFill>
                <a:latin typeface="Inter"/>
                <a:ea typeface="Inter"/>
              </a:rPr>
              <a:t>密码（KeyStoreManager）</a:t>
            </a:r>
          </a:p>
        </p:txBody>
      </p:sp>
      <p:sp>
        <p:nvSpPr>
          <p:cNvPr id="100223" name="TextBox 6"/>
          <p:cNvSpPr txBox="1"/>
          <p:nvPr/>
        </p:nvSpPr>
        <p:spPr>
          <a:xfrm xmlns:a="http://schemas.openxmlformats.org/drawingml/2006/main">
            <a:off x="648000" y="1764000"/>
            <a:ext cx="51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CB67D"/>
                </a:solidFill>
                <a:latin typeface="JetBrains Mono"/>
                <a:ea typeface="JetBrains Mono"/>
              </a:rPr>
              <a:t>AES-256-GCM</a:t>
            </a:r>
          </a:p>
        </p:txBody>
      </p:sp>
      <p:sp>
        <p:nvSpPr>
          <p:cNvPr id="100224" name="TextBox 7"/>
          <p:cNvSpPr txBox="1"/>
          <p:nvPr/>
        </p:nvSpPr>
        <p:spPr>
          <a:xfrm xmlns:a="http://schemas.openxmlformats.org/drawingml/2006/main">
            <a:off x="648000" y="2124000"/>
            <a:ext cx="511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KeyStoreManager.encrypt(pass) → 12B IV ‖ ciphertext</a:t>
            </a:r>
          </a:p>
        </p:txBody>
      </p:sp>
      <p:sp>
        <p:nvSpPr>
          <p:cNvPr id="100225" name="TextBox 8"/>
          <p:cNvSpPr txBox="1"/>
          <p:nvPr/>
        </p:nvSpPr>
        <p:spPr>
          <a:xfrm xmlns:a="http://schemas.openxmlformats.org/drawingml/2006/main">
            <a:off x="648000" y="2286000"/>
            <a:ext cx="511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Base64 写入 AppPreferences.KEY_ENCRYPTED_PASSWORD</a:t>
            </a:r>
          </a:p>
        </p:txBody>
      </p:sp>
      <p:sp>
        <p:nvSpPr>
          <p:cNvPr id="100226" name="TextBox 9"/>
          <p:cNvSpPr txBox="1"/>
          <p:nvPr/>
        </p:nvSpPr>
        <p:spPr>
          <a:xfrm xmlns:a="http://schemas.openxmlformats.org/drawingml/2006/main">
            <a:off x="648000" y="2448000"/>
            <a:ext cx="511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Key 由 AndroidKeyStore 守护，应用拿不到 raw key</a:t>
            </a:r>
          </a:p>
        </p:txBody>
      </p:sp>
      <p:sp>
        <p:nvSpPr>
          <p:cNvPr id="100227" name="TextBox 10"/>
          <p:cNvSpPr txBox="1"/>
          <p:nvPr/>
        </p:nvSpPr>
        <p:spPr>
          <a:xfrm xmlns:a="http://schemas.openxmlformats.org/drawingml/2006/main">
            <a:off x="648000" y="2610000"/>
            <a:ext cx="511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解密后的明文只活几毫秒，saveConfig 后立即</a:t>
            </a:r>
          </a:p>
        </p:txBody>
      </p:sp>
      <p:sp>
        <p:nvSpPr>
          <p:cNvPr id="100228" name="TextBox 11"/>
          <p:cNvSpPr txBox="1"/>
          <p:nvPr/>
        </p:nvSpPr>
        <p:spPr>
          <a:xfrm xmlns:a="http://schemas.openxmlformats.org/drawingml/2006/main">
            <a:off x="648000" y="2772000"/>
            <a:ext cx="511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  password = "" 清本地 state</a:t>
            </a:r>
          </a:p>
        </p:txBody>
      </p:sp>
      <p:sp>
        <p:nvSpPr>
          <p:cNvPr id="100229" name="TextBox 12"/>
          <p:cNvSpPr txBox="1"/>
          <p:nvPr/>
        </p:nvSpPr>
        <p:spPr>
          <a:xfrm xmlns:a="http://schemas.openxmlformats.org/drawingml/2006/main">
            <a:off x="648000" y="3060000"/>
            <a:ext cx="511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CB67D"/>
                </a:solidFill>
                <a:latin typeface="JetBrains Mono"/>
                <a:ea typeface="JetBrains Mono"/>
              </a:rPr>
              <a:t>威胁边界</a:t>
            </a:r>
          </a:p>
        </p:txBody>
      </p:sp>
      <p:sp>
        <p:nvSpPr>
          <p:cNvPr id="100230" name="TextBox 13"/>
          <p:cNvSpPr txBox="1"/>
          <p:nvPr/>
        </p:nvSpPr>
        <p:spPr>
          <a:xfrm xmlns:a="http://schemas.openxmlformats.org/drawingml/2006/main">
            <a:off x="648000" y="3222000"/>
            <a:ext cx="511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2CB67D"/>
                </a:solidFill>
                <a:latin typeface="Inter"/>
                <a:ea typeface="Inter"/>
              </a:rPr>
              <a:t>✓ 防其他普通应用读私钥</a:t>
            </a:r>
          </a:p>
        </p:txBody>
      </p:sp>
      <p:sp>
        <p:nvSpPr>
          <p:cNvPr id="100231" name="TextBox 14"/>
          <p:cNvSpPr txBox="1"/>
          <p:nvPr/>
        </p:nvSpPr>
        <p:spPr>
          <a:xfrm xmlns:a="http://schemas.openxmlformats.org/drawingml/2006/main">
            <a:off x="648000" y="3384000"/>
            <a:ext cx="511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6B6B"/>
                </a:solidFill>
                <a:latin typeface="Inter"/>
                <a:ea typeface="Inter"/>
              </a:rPr>
              <a:t>✗ 不防：root 设备 / adb backup 迁移 / 调试器附加</a:t>
            </a:r>
          </a:p>
        </p:txBody>
      </p:sp>
      <p:sp>
        <p:nvSpPr>
          <p:cNvPr id="100232" name="TextBox 15"/>
          <p:cNvSpPr txBox="1"/>
          <p:nvPr/>
        </p:nvSpPr>
        <p:spPr>
          <a:xfrm xmlns:a="http://schemas.openxmlformats.org/drawingml/2006/main">
            <a:off x="648000" y="3546000"/>
            <a:ext cx="5112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000" i="1">
                <a:solidFill>
                  <a:srgbClr val="94A1B2"/>
                </a:solidFill>
                <a:latin typeface="Inter"/>
                <a:ea typeface="Inter"/>
              </a:rPr>
              <a:t>  → 可选升级：setUserAuthenticationRequired(true) 生物识别</a:t>
            </a:r>
          </a:p>
        </p:txBody>
      </p:sp>
      <p:sp>
        <p:nvSpPr>
          <p:cNvPr id="100233" name="TextBox 16"/>
          <p:cNvSpPr/>
          <p:nvPr/>
        </p:nvSpPr>
        <p:spPr>
          <a:xfrm xmlns:a="http://schemas.openxmlformats.org/drawingml/2006/main">
            <a:off x="5904000" y="1404000"/>
            <a:ext cx="5616000" cy="324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 w="19050">
            <a:solidFill>
              <a:srgbClr val="2CB67D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234" name="TextBox 17"/>
          <p:cNvSpPr txBox="1"/>
          <p:nvPr/>
        </p:nvSpPr>
        <p:spPr>
          <a:xfrm xmlns:a="http://schemas.openxmlformats.org/drawingml/2006/main">
            <a:off x="6012000" y="1476000"/>
            <a:ext cx="543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CB67D"/>
                </a:solidFill>
                <a:latin typeface="Inter"/>
                <a:ea typeface="Inter"/>
              </a:rPr>
              <a:t>私钥（SAF + filesDir/keys）</a:t>
            </a:r>
          </a:p>
        </p:txBody>
      </p:sp>
      <p:sp>
        <p:nvSpPr>
          <p:cNvPr id="100235" name="TextBox 18"/>
          <p:cNvSpPr txBox="1"/>
          <p:nvPr/>
        </p:nvSpPr>
        <p:spPr>
          <a:xfrm xmlns:a="http://schemas.openxmlformats.org/drawingml/2006/main">
            <a:off x="6012000" y="1764000"/>
            <a:ext cx="543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CB67D"/>
                </a:solidFill>
                <a:latin typeface="JetBrains Mono"/>
                <a:ea typeface="JetBrains Mono"/>
              </a:rPr>
              <a:t>PEM round-trip</a:t>
            </a:r>
          </a:p>
        </p:txBody>
      </p:sp>
      <p:sp>
        <p:nvSpPr>
          <p:cNvPr id="100236" name="TextBox 19"/>
          <p:cNvSpPr txBox="1"/>
          <p:nvPr/>
        </p:nvSpPr>
        <p:spPr>
          <a:xfrm xmlns:a="http://schemas.openxmlformats.org/drawingml/2006/main">
            <a:off x="6012000" y="2124000"/>
            <a:ext cx="5436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SAF OpenDocument → filesDir/keys/*.pem</a:t>
            </a:r>
          </a:p>
        </p:txBody>
      </p:sp>
      <p:sp>
        <p:nvSpPr>
          <p:cNvPr id="100237" name="TextBox 20"/>
          <p:cNvSpPr txBox="1"/>
          <p:nvPr/>
        </p:nvSpPr>
        <p:spPr>
          <a:xfrm xmlns:a="http://schemas.openxmlformats.org/drawingml/2006/main">
            <a:off x="6012000" y="2286000"/>
            <a:ext cx="5436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文件名走 sanitizeFileName 防止路径穿越</a:t>
            </a:r>
          </a:p>
        </p:txBody>
      </p:sp>
      <p:sp>
        <p:nvSpPr>
          <p:cNvPr id="100238" name="TextBox 21"/>
          <p:cNvSpPr txBox="1"/>
          <p:nvPr/>
        </p:nvSpPr>
        <p:spPr>
          <a:xfrm xmlns:a="http://schemas.openxmlformats.org/drawingml/2006/main">
            <a:off x="6012000" y="2448000"/>
            <a:ext cx="5436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PublicKeyAuthProvider 解析 RSA + Ed25519</a:t>
            </a:r>
          </a:p>
        </p:txBody>
      </p:sp>
      <p:sp>
        <p:nvSpPr>
          <p:cNvPr id="100239" name="TextBox 22"/>
          <p:cNvSpPr txBox="1"/>
          <p:nvPr/>
        </p:nvSpPr>
        <p:spPr>
          <a:xfrm xmlns:a="http://schemas.openxmlformats.org/drawingml/2006/main">
            <a:off x="6012000" y="2610000"/>
            <a:ext cx="5436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· 5 个测试：Ed25519 / RSA PKCS#8 PEM round-trip</a:t>
            </a:r>
          </a:p>
        </p:txBody>
      </p:sp>
      <p:sp>
        <p:nvSpPr>
          <p:cNvPr id="100240" name="TextBox 23"/>
          <p:cNvSpPr txBox="1"/>
          <p:nvPr/>
        </p:nvSpPr>
        <p:spPr>
          <a:xfrm xmlns:a="http://schemas.openxmlformats.org/drawingml/2006/main">
            <a:off x="6012000" y="3060000"/>
            <a:ext cx="5436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6B6B"/>
                </a:solidFill>
                <a:latin typeface="JetBrains Mono"/>
                <a:ea typeface="JetBrains Mono"/>
              </a:rPr>
              <a:t>host key 校验 — v1.0 暂不实现</a:t>
            </a:r>
          </a:p>
        </p:txBody>
      </p:sp>
      <p:sp>
        <p:nvSpPr>
          <p:cNvPr id="100241" name="TextBox 24"/>
          <p:cNvSpPr txBox="1"/>
          <p:nvPr/>
        </p:nvSpPr>
        <p:spPr>
          <a:xfrm xmlns:a="http://schemas.openxmlformats.org/drawingml/2006/main">
            <a:off x="6012000" y="3222000"/>
            <a:ext cx="5436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SshClient 默认装 PromiscuousVerifier</a:t>
            </a:r>
          </a:p>
        </p:txBody>
      </p:sp>
      <p:sp>
        <p:nvSpPr>
          <p:cNvPr id="100242" name="TextBox 25"/>
          <p:cNvSpPr txBox="1"/>
          <p:nvPr/>
        </p:nvSpPr>
        <p:spPr>
          <a:xfrm xmlns:a="http://schemas.openxmlformats.org/drawingml/2006/main">
            <a:off x="6012000" y="3384000"/>
            <a:ext cx="5436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· 有意取舍：v1.0 优先验证能不能连上</a:t>
            </a:r>
          </a:p>
        </p:txBody>
      </p:sp>
      <p:sp>
        <p:nvSpPr>
          <p:cNvPr id="100243" name="TextBox 26"/>
          <p:cNvSpPr txBox="1"/>
          <p:nvPr/>
        </p:nvSpPr>
        <p:spPr>
          <a:xfrm xmlns:a="http://schemas.openxmlformats.org/drawingml/2006/main">
            <a:off x="6012000" y="3546000"/>
            <a:ext cx="5436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1B2"/>
                </a:solidFill>
                <a:latin typeface="Inter"/>
                <a:ea typeface="Inter"/>
              </a:rPr>
              <a:t>· MITM 防护留给 Sprint 3 的 TOFU known_hosts</a:t>
            </a:r>
          </a:p>
        </p:txBody>
      </p:sp>
      <p:sp>
        <p:nvSpPr>
          <p:cNvPr id="100244" name="TextBox 27"/>
          <p:cNvSpPr txBox="1"/>
          <p:nvPr/>
        </p:nvSpPr>
        <p:spPr>
          <a:xfrm xmlns:a="http://schemas.openxmlformats.org/drawingml/2006/main">
            <a:off x="540000" y="4824000"/>
            <a:ext cx="109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7F5AF0"/>
                </a:solidFill>
                <a:latin typeface="JetBrains Mono"/>
                <a:ea typeface="JetBrains Mono"/>
              </a:rPr>
              <a:t>SSHJ 0.38 + BouncyCastle 1.78.1 + BouncyCastleBootstrap 幂等注册 JCE provider</a:t>
            </a:r>
          </a:p>
        </p:txBody>
      </p:sp>
      <p:sp>
        <p:nvSpPr>
          <p:cNvPr id="100245" name="TextBox 28"/>
          <p:cNvSpPr txBox="1"/>
          <p:nvPr/>
        </p:nvSpPr>
        <p:spPr>
          <a:xfrm xmlns:a="http://schemas.openxmlformats.org/drawingml/2006/main">
            <a:off x="10440000" y="6480000"/>
            <a:ext cx="14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E7681"/>
                </a:solidFill>
                <a:latin typeface="JetBrains Mono"/>
                <a:ea typeface="JetBrains Mono"/>
              </a:rPr>
              <a:t>09 / 12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246" name="TextBox 1"/>
          <p:cNvSpPr txBox="1"/>
          <p:nvPr/>
        </p:nvSpPr>
        <p:spPr>
          <a:xfrm xmlns:a="http://schemas.openxmlformats.org/drawingml/2006/main">
            <a:off x="360000" y="288000"/>
            <a:ext cx="28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05 · PROGRESS</a:t>
            </a:r>
          </a:p>
        </p:txBody>
      </p:sp>
      <p:sp>
        <p:nvSpPr>
          <p:cNvPr id="100247" name="TextBox 2"/>
          <p:cNvSpPr txBox="1"/>
          <p:nvPr/>
        </p:nvSpPr>
        <p:spPr>
          <a:xfrm xmlns:a="http://schemas.openxmlformats.org/drawingml/2006/main">
            <a:off x="360000" y="504000"/>
            <a:ext cx="100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E"/>
                </a:solidFill>
                <a:latin typeface="Inter"/>
                <a:ea typeface="Inter"/>
              </a:rPr>
              <a:t>Sprint 进度 + 测试覆盖</a:t>
            </a:r>
          </a:p>
        </p:txBody>
      </p:sp>
      <p:sp>
        <p:nvSpPr>
          <p:cNvPr id="100248" name="TextBox 3"/>
          <p:cNvSpPr txBox="1"/>
          <p:nvPr/>
        </p:nvSpPr>
        <p:spPr>
          <a:xfrm xmlns:a="http://schemas.openxmlformats.org/drawingml/2006/main">
            <a:off x="360000" y="972000"/>
            <a:ext cx="10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1B2"/>
                </a:solidFill>
                <a:latin typeface="Inter"/>
                <a:ea typeface="Inter"/>
              </a:rPr>
              <a:t>4 个 Sprint · 80+ 单元测试 · 4 个测试类 · 9/9 绿</a:t>
            </a:r>
          </a:p>
        </p:txBody>
      </p:sp>
      <p:sp>
        <p:nvSpPr>
          <p:cNvPr id="100249" name="TextBox 4"/>
          <p:cNvSpPr/>
          <p:nvPr/>
        </p:nvSpPr>
        <p:spPr>
          <a:xfrm>
            <a:off x="540000" y="1584000"/>
            <a:ext cx="36000" cy="216000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txBody>
          <a:bodyPr>
            <a:normAutofit/>
          </a:bodyPr>
          <a:lstStyle/>
          <a:p/>
        </p:txBody>
      </p:sp>
      <p:sp>
        <p:nvSpPr>
          <p:cNvPr id="100250" name="TextBox 5"/>
          <p:cNvSpPr/>
          <p:nvPr/>
        </p:nvSpPr>
        <p:spPr>
          <a:xfrm>
            <a:off x="360000" y="1512000"/>
            <a:ext cx="396000" cy="396000"/>
          </a:xfrm>
          <a:prstGeom prst="ellipse">
            <a:avLst/>
          </a:prstGeom>
          <a:solidFill>
            <a:srgbClr val="0F0F14"/>
          </a:solidFill>
          <a:ln w="25400">
            <a:solidFill>
              <a:srgbClr val="7F5AF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1400" b="1">
                <a:solidFill>
                  <a:srgbClr val="FFFFFE"/>
                </a:solidFill>
                <a:latin typeface="JetBrains Mono"/>
                <a:ea typeface="JetBrains Mono"/>
              </a:rPr>
              <a:t>0</a:t>
            </a:r>
          </a:p>
        </p:txBody>
      </p:sp>
      <p:sp>
        <p:nvSpPr>
          <p:cNvPr id="100251" name="TextBox 6"/>
          <p:cNvSpPr txBox="1"/>
          <p:nvPr/>
        </p:nvSpPr>
        <p:spPr>
          <a:xfrm>
            <a:off x="900000" y="1512000"/>
            <a:ext cx="2880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800" b="1">
                <a:solidFill>
                  <a:srgbClr val="7F5AF0"/>
                </a:solidFill>
                <a:latin typeface="Inter"/>
                <a:ea typeface="Inter"/>
              </a:rPr>
              <a:t>基础设施</a:t>
            </a:r>
          </a:p>
        </p:txBody>
      </p:sp>
      <p:sp>
        <p:nvSpPr>
          <p:cNvPr id="100252" name="TextBox 7"/>
          <p:cNvSpPr txBox="1"/>
          <p:nvPr/>
        </p:nvSpPr>
        <p:spPr>
          <a:xfrm>
            <a:off x="900000" y="1692000"/>
            <a:ext cx="432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Gradle 8.9 + JDK 17 + AGP 8.7.3</a:t>
            </a:r>
          </a:p>
        </p:txBody>
      </p:sp>
      <p:sp>
        <p:nvSpPr>
          <p:cNvPr id="100253" name="TextBox 8"/>
          <p:cNvSpPr txBox="1"/>
          <p:nvPr/>
        </p:nvSpPr>
        <p:spPr>
          <a:xfrm>
            <a:off x="900000" y="1836000"/>
            <a:ext cx="432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集成 Termux terminal-emulator v0.118</a:t>
            </a:r>
          </a:p>
        </p:txBody>
      </p:sp>
      <p:sp>
        <p:nvSpPr>
          <p:cNvPr id="100254" name="TextBox 9"/>
          <p:cNvSpPr txBox="1"/>
          <p:nvPr/>
        </p:nvSpPr>
        <p:spPr>
          <a:xfrm>
            <a:off x="900000" y="1980000"/>
            <a:ext cx="432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深色 Compose UI 骨架</a:t>
            </a:r>
          </a:p>
        </p:txBody>
      </p:sp>
      <p:sp>
        <p:nvSpPr>
          <p:cNvPr id="100255" name="TextBox 10"/>
          <p:cNvSpPr/>
          <p:nvPr/>
        </p:nvSpPr>
        <p:spPr>
          <a:xfrm>
            <a:off x="360000" y="2304000"/>
            <a:ext cx="396000" cy="396000"/>
          </a:xfrm>
          <a:prstGeom prst="ellipse">
            <a:avLst/>
          </a:prstGeom>
          <a:solidFill>
            <a:srgbClr val="0F0F14"/>
          </a:solidFill>
          <a:ln w="25400">
            <a:solidFill>
              <a:srgbClr val="7F5AF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1400" b="1">
                <a:solidFill>
                  <a:srgbClr val="FFFFFE"/>
                </a:solidFill>
                <a:latin typeface="JetBrains Mono"/>
                <a:ea typeface="JetBrains Mono"/>
              </a:rPr>
              <a:t>1</a:t>
            </a:r>
          </a:p>
        </p:txBody>
      </p:sp>
      <p:sp>
        <p:nvSpPr>
          <p:cNvPr id="100256" name="TextBox 11"/>
          <p:cNvSpPr txBox="1"/>
          <p:nvPr/>
        </p:nvSpPr>
        <p:spPr>
          <a:xfrm>
            <a:off x="900000" y="2304000"/>
            <a:ext cx="2880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800" b="1">
                <a:solidFill>
                  <a:srgbClr val="7F5AF0"/>
                </a:solidFill>
                <a:latin typeface="Inter"/>
                <a:ea typeface="Inter"/>
              </a:rPr>
              <a:t>IME 核心</a:t>
            </a:r>
          </a:p>
        </p:txBody>
      </p:sp>
      <p:sp>
        <p:nvSpPr>
          <p:cNvPr id="100257" name="TextBox 12"/>
          <p:cNvSpPr txBox="1"/>
          <p:nvPr/>
        </p:nvSpPr>
        <p:spPr>
          <a:xfrm>
            <a:off x="900000" y="2484000"/>
            <a:ext cx="50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TerminalInputConnection (Gboard userInImeContext 锁存)</a:t>
            </a:r>
          </a:p>
        </p:txBody>
      </p:sp>
      <p:sp>
        <p:nvSpPr>
          <p:cNvPr id="100258" name="TextBox 13"/>
          <p:cNvSpPr txBox="1"/>
          <p:nvPr/>
        </p:nvSpPr>
        <p:spPr>
          <a:xfrm>
            <a:off x="900000" y="2628000"/>
            <a:ext cx="50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KeyMapper.KeyResolution (Send / Swallow / Ignore)</a:t>
            </a:r>
          </a:p>
        </p:txBody>
      </p:sp>
      <p:sp>
        <p:nvSpPr>
          <p:cNvPr id="100259" name="TextBox 14"/>
          <p:cNvSpPr txBox="1"/>
          <p:nvPr/>
        </p:nvSpPr>
        <p:spPr>
          <a:xfrm>
            <a:off x="900000" y="2772000"/>
            <a:ext cx="50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MockEchoSession · KeyStoreManager · AppPreferences</a:t>
            </a:r>
          </a:p>
        </p:txBody>
      </p:sp>
      <p:sp>
        <p:nvSpPr>
          <p:cNvPr id="100260" name="TextBox 15"/>
          <p:cNvSpPr/>
          <p:nvPr/>
        </p:nvSpPr>
        <p:spPr>
          <a:xfrm>
            <a:off x="360000" y="3096000"/>
            <a:ext cx="396000" cy="396000"/>
          </a:xfrm>
          <a:prstGeom prst="ellipse">
            <a:avLst/>
          </a:prstGeom>
          <a:solidFill>
            <a:srgbClr val="0F0F14"/>
          </a:solidFill>
          <a:ln w="25400">
            <a:solidFill>
              <a:srgbClr val="7F5AF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1100" b="1">
                <a:solidFill>
                  <a:srgbClr val="FFFFFE"/>
                </a:solidFill>
                <a:latin typeface="JetBrains Mono"/>
                <a:ea typeface="JetBrains Mono"/>
              </a:rPr>
              <a:t>1.5</a:t>
            </a:r>
          </a:p>
        </p:txBody>
      </p:sp>
      <p:sp>
        <p:nvSpPr>
          <p:cNvPr id="100261" name="TextBox 16"/>
          <p:cNvSpPr txBox="1"/>
          <p:nvPr/>
        </p:nvSpPr>
        <p:spPr>
          <a:xfrm>
            <a:off x="900000" y="3096000"/>
            <a:ext cx="2880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800" b="1">
                <a:solidFill>
                  <a:srgbClr val="7F5AF0"/>
                </a:solidFill>
                <a:latin typeface="Inter"/>
                <a:ea typeface="Inter"/>
              </a:rPr>
              <a:t>UI 接线</a:t>
            </a:r>
          </a:p>
        </p:txBody>
      </p:sp>
      <p:sp>
        <p:nvSpPr>
          <p:cNvPr id="100262" name="TextBox 17"/>
          <p:cNvSpPr txBox="1"/>
          <p:nvPr/>
        </p:nvSpPr>
        <p:spPr>
          <a:xfrm>
            <a:off x="900000" y="3276000"/>
            <a:ext cx="50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ConfigScreen 接入数据层 + SAF 私钥导入</a:t>
            </a:r>
          </a:p>
        </p:txBody>
      </p:sp>
      <p:sp>
        <p:nvSpPr>
          <p:cNvPr id="100263" name="TextBox 18"/>
          <p:cNvSpPr txBox="1"/>
          <p:nvPr/>
        </p:nvSpPr>
        <p:spPr>
          <a:xfrm>
            <a:off x="900000" y="3420000"/>
            <a:ext cx="50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音量键调字号持久化</a:t>
            </a:r>
          </a:p>
        </p:txBody>
      </p:sp>
      <p:sp>
        <p:nvSpPr>
          <p:cNvPr id="100264" name="TextBox 19"/>
          <p:cNvSpPr/>
          <p:nvPr/>
        </p:nvSpPr>
        <p:spPr>
          <a:xfrm>
            <a:off x="360000" y="3888000"/>
            <a:ext cx="396000" cy="396000"/>
          </a:xfrm>
          <a:prstGeom prst="ellipse">
            <a:avLst/>
          </a:prstGeom>
          <a:solidFill>
            <a:srgbClr val="0F0F14"/>
          </a:solidFill>
          <a:ln w="25400">
            <a:solidFill>
              <a:srgbClr val="2CB67D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1400" b="1">
                <a:solidFill>
                  <a:srgbClr val="FFFFFE"/>
                </a:solidFill>
                <a:latin typeface="JetBrains Mono"/>
                <a:ea typeface="JetBrains Mono"/>
              </a:rPr>
              <a:t>2</a:t>
            </a:r>
          </a:p>
        </p:txBody>
      </p:sp>
      <p:sp>
        <p:nvSpPr>
          <p:cNvPr id="100265" name="TextBox 20"/>
          <p:cNvSpPr txBox="1"/>
          <p:nvPr/>
        </p:nvSpPr>
        <p:spPr>
          <a:xfrm>
            <a:off x="900000" y="3888000"/>
            <a:ext cx="3600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800" b="1">
                <a:solidFill>
                  <a:srgbClr val="2CB67D"/>
                </a:solidFill>
                <a:latin typeface="Inter"/>
                <a:ea typeface="Inter"/>
              </a:rPr>
              <a:t>真 SSH（当前）</a:t>
            </a:r>
          </a:p>
        </p:txBody>
      </p:sp>
      <p:sp>
        <p:nvSpPr>
          <p:cNvPr id="100266" name="TextBox 21"/>
          <p:cNvSpPr txBox="1"/>
          <p:nvPr/>
        </p:nvSpPr>
        <p:spPr>
          <a:xfrm>
            <a:off x="900000" y="4068000"/>
            <a:ext cx="720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SSHJ 0.38 + BouncyCastle · xterm-256color + ECHO/ICANON</a:t>
            </a:r>
          </a:p>
        </p:txBody>
      </p:sp>
      <p:sp>
        <p:nvSpPr>
          <p:cNvPr id="100267" name="TextBox 22"/>
          <p:cNvSpPr txBox="1"/>
          <p:nvPr/>
        </p:nvSpPr>
        <p:spPr>
          <a:xfrm>
            <a:off x="900000" y="4212000"/>
            <a:ext cx="720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SshClient / SshSession / SshTransport (4 方法窄接口)</a:t>
            </a:r>
          </a:p>
        </p:txBody>
      </p:sp>
      <p:sp>
        <p:nvSpPr>
          <p:cNvPr id="100268" name="TextBox 23"/>
          <p:cNvSpPr txBox="1"/>
          <p:nvPr/>
        </p:nvSpPr>
        <p:spPr>
          <a:xfrm>
            <a:off x="900000" y="4356000"/>
            <a:ext cx="720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AppLog + ConnectionLogPanel + CrashHandler</a:t>
            </a:r>
          </a:p>
        </p:txBody>
      </p:sp>
      <p:sp>
        <p:nvSpPr>
          <p:cNvPr id="100269" name="TextBox 24"/>
          <p:cNvSpPr/>
          <p:nvPr/>
        </p:nvSpPr>
        <p:spPr>
          <a:xfrm>
            <a:off x="8100000" y="1512000"/>
            <a:ext cx="3420000" cy="3060000"/>
          </a:xfrm>
          <a:prstGeom prst="roundRect">
            <a:avLst>
              <a:gd name="adj" fmla="val 10000"/>
            </a:avLst>
          </a:prstGeom>
          <a:solidFill>
            <a:srgbClr val="16161A"/>
          </a:solidFill>
          <a:ln w="12700">
            <a:solidFill>
              <a:srgbClr val="7F5AF0"/>
            </a:solidFill>
          </a:ln>
        </p:spPr>
        <p:txBody>
          <a:bodyPr>
            <a:normAutofit/>
          </a:bodyPr>
          <a:lstStyle/>
          <a:p/>
        </p:txBody>
      </p:sp>
      <p:sp>
        <p:nvSpPr>
          <p:cNvPr id="100270" name="TextBox 25"/>
          <p:cNvSpPr txBox="1"/>
          <p:nvPr/>
        </p:nvSpPr>
        <p:spPr>
          <a:xfrm>
            <a:off x="8208000" y="1584000"/>
            <a:ext cx="3240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7F5AF0"/>
                </a:solidFill>
                <a:latin typeface="Inter"/>
                <a:ea typeface="Inter"/>
              </a:rPr>
              <a:t>测试覆盖</a:t>
            </a:r>
          </a:p>
        </p:txBody>
      </p:sp>
      <p:sp>
        <p:nvSpPr>
          <p:cNvPr id="100271" name="TextBox 26"/>
          <p:cNvSpPr txBox="1"/>
          <p:nvPr/>
        </p:nvSpPr>
        <p:spPr>
          <a:xfrm>
            <a:off x="8208000" y="1800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TerminalInputConnectionTest</a:t>
            </a:r>
          </a:p>
        </p:txBody>
      </p:sp>
      <p:sp>
        <p:nvSpPr>
          <p:cNvPr id="100272" name="TextBox 27"/>
          <p:cNvSpPr txBox="1"/>
          <p:nvPr/>
        </p:nvSpPr>
        <p:spPr>
          <a:xfrm>
            <a:off x="8208000" y="1944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000">
                <a:solidFill>
                  <a:srgbClr val="94A1B2"/>
                </a:solidFill>
                <a:latin typeface="Inter"/>
                <a:ea typeface="Inter"/>
              </a:rPr>
              <a:t>11 用例 · IME 5 方法 + Gboard 竞态</a:t>
            </a:r>
          </a:p>
        </p:txBody>
      </p:sp>
      <p:sp>
        <p:nvSpPr>
          <p:cNvPr id="100273" name="TextBox 28"/>
          <p:cNvSpPr txBox="1"/>
          <p:nvPr/>
        </p:nvSpPr>
        <p:spPr>
          <a:xfrm>
            <a:off x="8208000" y="2124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KeyEventRoutingTest</a:t>
            </a:r>
          </a:p>
        </p:txBody>
      </p:sp>
      <p:sp>
        <p:nvSpPr>
          <p:cNvPr id="100274" name="TextBox 29"/>
          <p:cNvSpPr txBox="1"/>
          <p:nvPr/>
        </p:nvSpPr>
        <p:spPr>
          <a:xfrm>
            <a:off x="8208000" y="2268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000">
                <a:solidFill>
                  <a:srgbClr val="94A1B2"/>
                </a:solidFill>
                <a:latin typeface="Inter"/>
                <a:ea typeface="Inter"/>
              </a:rPr>
              <a:t>10 用例 · 物理键路由决策表</a:t>
            </a:r>
          </a:p>
        </p:txBody>
      </p:sp>
      <p:sp>
        <p:nvSpPr>
          <p:cNvPr id="100275" name="TextBox 30"/>
          <p:cNvSpPr txBox="1"/>
          <p:nvPr/>
        </p:nvSpPr>
        <p:spPr>
          <a:xfrm>
            <a:off x="8208000" y="2448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AppPreferencesTest</a:t>
            </a:r>
          </a:p>
        </p:txBody>
      </p:sp>
      <p:sp>
        <p:nvSpPr>
          <p:cNvPr id="100276" name="TextBox 31"/>
          <p:cNvSpPr txBox="1"/>
          <p:nvPr/>
        </p:nvSpPr>
        <p:spPr>
          <a:xfrm>
            <a:off x="8208000" y="2592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000">
                <a:solidFill>
                  <a:srgbClr val="94A1B2"/>
                </a:solidFill>
                <a:latin typeface="Inter"/>
                <a:ea typeface="Inter"/>
              </a:rPr>
              <a:t>11 用例 · 数据层 + 加密 blob 边界</a:t>
            </a:r>
          </a:p>
        </p:txBody>
      </p:sp>
      <p:sp>
        <p:nvSpPr>
          <p:cNvPr id="100277" name="TextBox 32"/>
          <p:cNvSpPr txBox="1"/>
          <p:nvPr/>
        </p:nvSpPr>
        <p:spPr>
          <a:xfrm>
            <a:off x="8208000" y="2772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SshErrorMessagesTest</a:t>
            </a:r>
          </a:p>
        </p:txBody>
      </p:sp>
      <p:sp>
        <p:nvSpPr>
          <p:cNvPr id="100278" name="TextBox 33"/>
          <p:cNvSpPr txBox="1"/>
          <p:nvPr/>
        </p:nvSpPr>
        <p:spPr>
          <a:xfrm>
            <a:off x="8208000" y="2916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000">
                <a:solidFill>
                  <a:srgbClr val="94A1B2"/>
                </a:solidFill>
                <a:latin typeface="Inter"/>
                <a:ea typeface="Inter"/>
              </a:rPr>
              <a:t>17 用例 · Throwable → 友好文案</a:t>
            </a:r>
          </a:p>
        </p:txBody>
      </p:sp>
      <p:sp>
        <p:nvSpPr>
          <p:cNvPr id="100279" name="TextBox 34"/>
          <p:cNvSpPr txBox="1"/>
          <p:nvPr/>
        </p:nvSpPr>
        <p:spPr>
          <a:xfrm>
            <a:off x="8208000" y="3096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SshSessionWriteTest</a:t>
            </a:r>
          </a:p>
        </p:txBody>
      </p:sp>
      <p:sp>
        <p:nvSpPr>
          <p:cNvPr id="100280" name="TextBox 35"/>
          <p:cNvSpPr txBox="1"/>
          <p:nvPr/>
        </p:nvSpPr>
        <p:spPr>
          <a:xfrm>
            <a:off x="8208000" y="3240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000">
                <a:solidFill>
                  <a:srgbClr val="94A1B2"/>
                </a:solidFill>
                <a:latin typeface="Inter"/>
                <a:ea typeface="Inter"/>
              </a:rPr>
              <a:t>8 活跃 + 4 @Ignore · 写顺序 / empty / close 幂等</a:t>
            </a:r>
          </a:p>
        </p:txBody>
      </p:sp>
      <p:sp>
        <p:nvSpPr>
          <p:cNvPr id="100281" name="TextBox 36"/>
          <p:cNvSpPr txBox="1"/>
          <p:nvPr/>
        </p:nvSpPr>
        <p:spPr>
          <a:xfrm>
            <a:off x="8208000" y="3420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AppLogTest / ConnectionDraftTest</a:t>
            </a:r>
          </a:p>
        </p:txBody>
      </p:sp>
      <p:sp>
        <p:nvSpPr>
          <p:cNvPr id="100282" name="TextBox 37"/>
          <p:cNvSpPr txBox="1"/>
          <p:nvPr/>
        </p:nvSpPr>
        <p:spPr>
          <a:xfrm>
            <a:off x="8208000" y="3564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000">
                <a:solidFill>
                  <a:srgbClr val="94A1B2"/>
                </a:solidFill>
                <a:latin typeface="Inter"/>
                <a:ea typeface="Inter"/>
              </a:rPr>
              <a:t>15 用例 · 日志轮转 + 草稿不误清</a:t>
            </a:r>
          </a:p>
        </p:txBody>
      </p:sp>
      <p:sp>
        <p:nvSpPr>
          <p:cNvPr id="100283" name="TextBox 38"/>
          <p:cNvSpPr txBox="1"/>
          <p:nvPr/>
        </p:nvSpPr>
        <p:spPr>
          <a:xfrm>
            <a:off x="8208000" y="3744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100">
                <a:solidFill>
                  <a:srgbClr val="2CB67D"/>
                </a:solidFill>
                <a:latin typeface="JetBrains Mono"/>
                <a:ea typeface="JetBrains Mono"/>
              </a:rPr>
              <a:t>PublicKeyAuthProviderTest</a:t>
            </a:r>
          </a:p>
        </p:txBody>
      </p:sp>
      <p:sp>
        <p:nvSpPr>
          <p:cNvPr id="100284" name="TextBox 39"/>
          <p:cNvSpPr txBox="1"/>
          <p:nvPr/>
        </p:nvSpPr>
        <p:spPr>
          <a:xfrm>
            <a:off x="8208000" y="3888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000">
                <a:solidFill>
                  <a:srgbClr val="94A1B2"/>
                </a:solidFill>
                <a:latin typeface="Inter"/>
                <a:ea typeface="Inter"/>
              </a:rPr>
              <a:t>5 用例 · Ed25519 / RSA PKCS#8 round-trip</a:t>
            </a:r>
          </a:p>
        </p:txBody>
      </p:sp>
      <p:sp>
        <p:nvSpPr>
          <p:cNvPr id="100285" name="TextBox 40"/>
          <p:cNvSpPr txBox="1"/>
          <p:nvPr/>
        </p:nvSpPr>
        <p:spPr>
          <a:xfrm>
            <a:off x="8208000" y="4068000"/>
            <a:ext cx="3240000" cy="14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1000">
                <a:solidFill>
                  <a:srgbClr val="94A1B2"/>
                </a:solidFill>
                <a:latin typeface="Inter"/>
                <a:ea typeface="Inter"/>
              </a:rPr>
              <a:t>SshConfigTest · 6 用例 · 默认值 pin</a:t>
            </a:r>
          </a:p>
        </p:txBody>
      </p:sp>
      <p:sp>
        <p:nvSpPr>
          <p:cNvPr id="100286" name="TextBox 41"/>
          <p:cNvSpPr txBox="1"/>
          <p:nvPr/>
        </p:nvSpPr>
        <p:spPr>
          <a:xfrm>
            <a:off x="10440000" y="6480000"/>
            <a:ext cx="1440000" cy="180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en-US" sz="1000">
                <a:solidFill>
                  <a:srgbClr val="6E7681"/>
                </a:solidFill>
                <a:latin typeface="JetBrains Mono"/>
                <a:ea typeface="JetBrains Mono"/>
              </a:rPr>
              <a:t>10 / 12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287" name="TextBox 1"/>
          <p:cNvSpPr txBox="1"/>
          <p:nvPr/>
        </p:nvSpPr>
        <p:spPr>
          <a:xfrm xmlns:a="http://schemas.openxmlformats.org/drawingml/2006/main">
            <a:off x="360000" y="288000"/>
            <a:ext cx="28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5AF0"/>
                </a:solidFill>
                <a:latin typeface="JetBrains Mono"/>
                <a:ea typeface="JetBrains Mono"/>
              </a:rPr>
              <a:t>06 · ROADMAP</a:t>
            </a:r>
          </a:p>
        </p:txBody>
      </p:sp>
      <p:sp>
        <p:nvSpPr>
          <p:cNvPr id="100288" name="TextBox 2"/>
          <p:cNvSpPr txBox="1"/>
          <p:nvPr/>
        </p:nvSpPr>
        <p:spPr>
          <a:xfrm xmlns:a="http://schemas.openxmlformats.org/drawingml/2006/main">
            <a:off x="360000" y="504000"/>
            <a:ext cx="100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E"/>
                </a:solidFill>
                <a:latin typeface="Inter"/>
                <a:ea typeface="Inter"/>
              </a:rPr>
              <a:t>路线图：Sprint 2.5 → 3 → 4+</a:t>
            </a:r>
          </a:p>
        </p:txBody>
      </p:sp>
      <p:sp>
        <p:nvSpPr>
          <p:cNvPr id="100289" name="TextBox 3"/>
          <p:cNvSpPr txBox="1"/>
          <p:nvPr/>
        </p:nvSpPr>
        <p:spPr>
          <a:xfrm xmlns:a="http://schemas.openxmlformats.org/drawingml/2006/main">
            <a:off x="360000" y="972000"/>
            <a:ext cx="108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1B2"/>
                </a:solidFill>
                <a:latin typeface="Inter"/>
                <a:ea typeface="Inter"/>
              </a:rPr>
              <a:t>v1.0 已可配主机 / 加密存密码 / 导入私钥 / 调字号 / 看日志复制</a:t>
            </a:r>
          </a:p>
        </p:txBody>
      </p:sp>
      <p:sp>
        <p:nvSpPr>
          <p:cNvPr id="100290" name="TextBox 4"/>
          <p:cNvSpPr/>
          <p:nvPr/>
        </p:nvSpPr>
        <p:spPr>
          <a:xfrm xmlns:a="http://schemas.openxmlformats.org/drawingml/2006/main">
            <a:off x="540000" y="1404000"/>
            <a:ext cx="3600000" cy="342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0F14"/>
          </a:solidFill>
          <a:ln xmlns:a="http://schemas.openxmlformats.org/drawingml/2006/main" w="19050">
            <a:solidFill>
              <a:srgbClr val="FF6B6B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291" name="TextBox 5"/>
          <p:cNvSpPr txBox="1"/>
          <p:nvPr/>
        </p:nvSpPr>
        <p:spPr>
          <a:xfrm xmlns:a="http://schemas.openxmlformats.org/drawingml/2006/main">
            <a:off x="648000" y="1476000"/>
            <a:ext cx="34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6B6B"/>
                </a:solidFill>
                <a:latin typeface="JetBrains Mono"/>
                <a:ea typeface="JetBrains Mono"/>
              </a:rPr>
              <a:t>Sprint 2.5</a:t>
            </a:r>
          </a:p>
        </p:txBody>
      </p:sp>
      <p:sp>
        <p:nvSpPr>
          <p:cNvPr id="100292" name="TextBox 6"/>
          <p:cNvSpPr txBox="1"/>
          <p:nvPr/>
        </p:nvSpPr>
        <p:spPr>
          <a:xfrm xmlns:a="http://schemas.openxmlformats.org/drawingml/2006/main">
            <a:off x="648000" y="1638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 i="1">
                <a:solidFill>
                  <a:srgbClr val="94A1B2"/>
                </a:solidFill>
                <a:latin typeface="Inter"/>
                <a:ea typeface="Inter"/>
              </a:rPr>
              <a:t>短期 · 1 周内</a:t>
            </a:r>
          </a:p>
        </p:txBody>
      </p:sp>
      <p:sp>
        <p:nvSpPr>
          <p:cNvPr id="100293" name="TextBox 7"/>
          <p:cNvSpPr txBox="1"/>
          <p:nvPr/>
        </p:nvSpPr>
        <p:spPr>
          <a:xfrm xmlns:a="http://schemas.openxmlformats.org/drawingml/2006/main">
            <a:off x="648000" y="1944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4 个 @Ignore 的 readInto 时序用例补全</a:t>
            </a:r>
          </a:p>
        </p:txBody>
      </p:sp>
      <p:sp>
        <p:nvSpPr>
          <p:cNvPr id="100294" name="TextBox 8"/>
          <p:cNvSpPr txBox="1"/>
          <p:nvPr/>
        </p:nvSpPr>
        <p:spPr>
          <a:xfrm xmlns:a="http://schemas.openxmlformats.org/drawingml/2006/main">
            <a:off x="648000" y="2106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OpenSSH 7/8/9 + dropbear / busybox sshd</a:t>
            </a:r>
          </a:p>
        </p:txBody>
      </p:sp>
      <p:sp>
        <p:nvSpPr>
          <p:cNvPr id="100295" name="TextBox 9"/>
          <p:cNvSpPr txBox="1"/>
          <p:nvPr/>
        </p:nvSpPr>
        <p:spPr>
          <a:xfrm xmlns:a="http://schemas.openxmlformats.org/drawingml/2006/main">
            <a:off x="648000" y="2268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  兼容性矩阵</a:t>
            </a:r>
          </a:p>
        </p:txBody>
      </p:sp>
      <p:sp>
        <p:nvSpPr>
          <p:cNvPr id="100296" name="TextBox 10"/>
          <p:cNvSpPr txBox="1"/>
          <p:nvPr/>
        </p:nvSpPr>
        <p:spPr>
          <a:xfrm xmlns:a="http://schemas.openxmlformats.org/drawingml/2006/main">
            <a:off x="648000" y="2466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KeyStoreManager 真机冒烟</a:t>
            </a:r>
          </a:p>
        </p:txBody>
      </p:sp>
      <p:sp>
        <p:nvSpPr>
          <p:cNvPr id="100297" name="TextBox 11"/>
          <p:cNvSpPr txBox="1"/>
          <p:nvPr/>
        </p:nvSpPr>
        <p:spPr>
          <a:xfrm xmlns:a="http://schemas.openxmlformats.org/drawingml/2006/main">
            <a:off x="648000" y="2628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TerminalViewCrashTest 回归用例</a:t>
            </a:r>
          </a:p>
        </p:txBody>
      </p:sp>
      <p:sp>
        <p:nvSpPr>
          <p:cNvPr id="100298" name="TextBox 12"/>
          <p:cNvSpPr/>
          <p:nvPr/>
        </p:nvSpPr>
        <p:spPr>
          <a:xfrm xmlns:a="http://schemas.openxmlformats.org/drawingml/2006/main">
            <a:off x="4212000" y="1404000"/>
            <a:ext cx="3600000" cy="342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F141A"/>
          </a:solidFill>
          <a:ln xmlns:a="http://schemas.openxmlformats.org/drawingml/2006/main" w="19050">
            <a:solidFill>
              <a:srgbClr val="7F5AF0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299" name="TextBox 13"/>
          <p:cNvSpPr txBox="1"/>
          <p:nvPr/>
        </p:nvSpPr>
        <p:spPr>
          <a:xfrm xmlns:a="http://schemas.openxmlformats.org/drawingml/2006/main">
            <a:off x="4320000" y="1476000"/>
            <a:ext cx="34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7F5AF0"/>
                </a:solidFill>
                <a:latin typeface="JetBrains Mono"/>
                <a:ea typeface="JetBrains Mono"/>
              </a:rPr>
              <a:t>Sprint 3</a:t>
            </a:r>
          </a:p>
        </p:txBody>
      </p:sp>
      <p:sp>
        <p:nvSpPr>
          <p:cNvPr id="100300" name="TextBox 14"/>
          <p:cNvSpPr txBox="1"/>
          <p:nvPr/>
        </p:nvSpPr>
        <p:spPr>
          <a:xfrm xmlns:a="http://schemas.openxmlformats.org/drawingml/2006/main">
            <a:off x="4320000" y="1638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 i="1">
                <a:solidFill>
                  <a:srgbClr val="94A1B2"/>
                </a:solidFill>
                <a:latin typeface="Inter"/>
                <a:ea typeface="Inter"/>
              </a:rPr>
              <a:t>P3 · 2-4 周</a:t>
            </a:r>
          </a:p>
        </p:txBody>
      </p:sp>
      <p:sp>
        <p:nvSpPr>
          <p:cNvPr id="100301" name="TextBox 15"/>
          <p:cNvSpPr txBox="1"/>
          <p:nvPr/>
        </p:nvSpPr>
        <p:spPr>
          <a:xfrm xmlns:a="http://schemas.openxmlformats.org/drawingml/2006/main">
            <a:off x="4320000" y="1944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known_hosts TOFU store</a:t>
            </a:r>
          </a:p>
        </p:txBody>
      </p:sp>
      <p:sp>
        <p:nvSpPr>
          <p:cNvPr id="100302" name="TextBox 16"/>
          <p:cNvSpPr txBox="1"/>
          <p:nvPr/>
        </p:nvSpPr>
        <p:spPr>
          <a:xfrm xmlns:a="http://schemas.openxmlformats.org/drawingml/2006/main">
            <a:off x="4320000" y="2106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多主机列表 + 分组 + 增删改</a:t>
            </a:r>
          </a:p>
        </p:txBody>
      </p:sp>
      <p:sp>
        <p:nvSpPr>
          <p:cNvPr id="100303" name="TextBox 17"/>
          <p:cNvSpPr txBox="1"/>
          <p:nvPr/>
        </p:nvSpPr>
        <p:spPr>
          <a:xfrm xmlns:a="http://schemas.openxmlformats.org/drawingml/2006/main">
            <a:off x="4320000" y="2268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横屏布局优化</a:t>
            </a:r>
          </a:p>
        </p:txBody>
      </p:sp>
      <p:sp>
        <p:nvSpPr>
          <p:cNvPr id="100304" name="TextBox 18"/>
          <p:cNvSpPr txBox="1"/>
          <p:nvPr/>
        </p:nvSpPr>
        <p:spPr>
          <a:xfrm xmlns:a="http://schemas.openxmlformats.org/drawingml/2006/main">
            <a:off x="4320000" y="2430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命令 Snippet 收藏</a:t>
            </a:r>
          </a:p>
        </p:txBody>
      </p:sp>
      <p:sp>
        <p:nvSpPr>
          <p:cNvPr id="100305" name="TextBox 19"/>
          <p:cNvSpPr txBox="1"/>
          <p:nvPr/>
        </p:nvSpPr>
        <p:spPr>
          <a:xfrm xmlns:a="http://schemas.openxmlformats.org/drawingml/2006/main">
            <a:off x="4320000" y="2592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真实错误事件（区分用户断 vs 异常断）</a:t>
            </a:r>
          </a:p>
        </p:txBody>
      </p:sp>
      <p:sp>
        <p:nvSpPr>
          <p:cNvPr id="100306" name="TextBox 20"/>
          <p:cNvSpPr/>
          <p:nvPr/>
        </p:nvSpPr>
        <p:spPr>
          <a:xfrm xmlns:a="http://schemas.openxmlformats.org/drawingml/2006/main">
            <a:off x="7884000" y="1404000"/>
            <a:ext cx="3600000" cy="342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19050">
            <a:solidFill>
              <a:srgbClr val="2CB67D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307" name="TextBox 21"/>
          <p:cNvSpPr txBox="1"/>
          <p:nvPr/>
        </p:nvSpPr>
        <p:spPr>
          <a:xfrm xmlns:a="http://schemas.openxmlformats.org/drawingml/2006/main">
            <a:off x="7992000" y="1476000"/>
            <a:ext cx="34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2CB67D"/>
                </a:solidFill>
                <a:latin typeface="JetBrains Mono"/>
                <a:ea typeface="JetBrains Mono"/>
              </a:rPr>
              <a:t>Sprint 4+</a:t>
            </a:r>
          </a:p>
        </p:txBody>
      </p:sp>
      <p:sp>
        <p:nvSpPr>
          <p:cNvPr id="100308" name="TextBox 22"/>
          <p:cNvSpPr txBox="1"/>
          <p:nvPr/>
        </p:nvSpPr>
        <p:spPr>
          <a:xfrm xmlns:a="http://schemas.openxmlformats.org/drawingml/2006/main">
            <a:off x="7992000" y="1638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 i="1">
                <a:solidFill>
                  <a:srgbClr val="94A1B2"/>
                </a:solidFill>
                <a:latin typeface="Inter"/>
                <a:ea typeface="Inter"/>
              </a:rPr>
              <a:t>P4 · 远期</a:t>
            </a:r>
          </a:p>
        </p:txBody>
      </p:sp>
      <p:sp>
        <p:nvSpPr>
          <p:cNvPr id="100309" name="TextBox 23"/>
          <p:cNvSpPr txBox="1"/>
          <p:nvPr/>
        </p:nvSpPr>
        <p:spPr>
          <a:xfrm xmlns:a="http://schemas.openxmlformats.org/drawingml/2006/main">
            <a:off x="7992000" y="1944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SFTP 文件管理</a:t>
            </a:r>
          </a:p>
        </p:txBody>
      </p:sp>
      <p:sp>
        <p:nvSpPr>
          <p:cNvPr id="100310" name="TextBox 24"/>
          <p:cNvSpPr txBox="1"/>
          <p:nvPr/>
        </p:nvSpPr>
        <p:spPr>
          <a:xfrm xmlns:a="http://schemas.openxmlformats.org/drawingml/2006/main">
            <a:off x="7992000" y="2106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端口转发</a:t>
            </a:r>
          </a:p>
        </p:txBody>
      </p:sp>
      <p:sp>
        <p:nvSpPr>
          <p:cNvPr id="100311" name="TextBox 25"/>
          <p:cNvSpPr txBox="1"/>
          <p:nvPr/>
        </p:nvSpPr>
        <p:spPr>
          <a:xfrm xmlns:a="http://schemas.openxmlformats.org/drawingml/2006/main">
            <a:off x="7992000" y="2268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跳板 / ProxyJump</a:t>
            </a:r>
          </a:p>
        </p:txBody>
      </p:sp>
      <p:sp>
        <p:nvSpPr>
          <p:cNvPr id="100312" name="TextBox 26"/>
          <p:cNvSpPr txBox="1"/>
          <p:nvPr/>
        </p:nvSpPr>
        <p:spPr>
          <a:xfrm xmlns:a="http://schemas.openxmlformats.org/drawingml/2006/main">
            <a:off x="7992000" y="2430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Mosh（最后评估）</a:t>
            </a:r>
          </a:p>
        </p:txBody>
      </p:sp>
      <p:sp>
        <p:nvSpPr>
          <p:cNvPr id="100313" name="TextBox 27"/>
          <p:cNvSpPr txBox="1"/>
          <p:nvPr/>
        </p:nvSpPr>
        <p:spPr>
          <a:xfrm xmlns:a="http://schemas.openxmlformats.org/drawingml/2006/main">
            <a:off x="7992000" y="2592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TrueColor 终端类型</a:t>
            </a:r>
          </a:p>
        </p:txBody>
      </p:sp>
      <p:sp>
        <p:nvSpPr>
          <p:cNvPr id="100314" name="TextBox 28"/>
          <p:cNvSpPr txBox="1"/>
          <p:nvPr/>
        </p:nvSpPr>
        <p:spPr>
          <a:xfrm xmlns:a="http://schemas.openxmlformats.org/drawingml/2006/main">
            <a:off x="7992000" y="2754000"/>
            <a:ext cx="342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Inter"/>
                <a:ea typeface="Inter"/>
              </a:rPr>
              <a:t>□ 鼠标协议（xterm mouse modes）</a:t>
            </a:r>
          </a:p>
        </p:txBody>
      </p:sp>
      <p:sp>
        <p:nvSpPr>
          <p:cNvPr id="100315" name="TextBox 29"/>
          <p:cNvSpPr txBox="1"/>
          <p:nvPr/>
        </p:nvSpPr>
        <p:spPr>
          <a:xfrm xmlns:a="http://schemas.openxmlformats.org/drawingml/2006/main">
            <a:off x="540000" y="5040000"/>
            <a:ext cx="109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7F5AF0"/>
                </a:solidFill>
                <a:latin typeface="JetBrains Mono"/>
                <a:ea typeface="JetBrains Mono"/>
              </a:rPr>
              <a:t>v1.0 已可：配主机 · 加密存密码 · 导入私钥 · 调字号 · 重连持久化 · 看诊断日志与崩溃栈并复制</a:t>
            </a:r>
          </a:p>
        </p:txBody>
      </p:sp>
      <p:sp>
        <p:nvSpPr>
          <p:cNvPr id="100316" name="TextBox 30"/>
          <p:cNvSpPr txBox="1"/>
          <p:nvPr/>
        </p:nvSpPr>
        <p:spPr>
          <a:xfrm xmlns:a="http://schemas.openxmlformats.org/drawingml/2006/main">
            <a:off x="10440000" y="6480000"/>
            <a:ext cx="14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E7681"/>
                </a:solidFill>
                <a:latin typeface="JetBrains Mono"/>
                <a:ea typeface="JetBrains Mono"/>
              </a:rPr>
              <a:t>11 / 12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0F14"/>
        </a:solidFill>
      </p:bgPr>
    </p:bg>
    <p:spTree>
      <p:nvGrpSpPr>
        <p:cNvPr id="1" name=""/>
        <p:cNvGrpSpPr/>
        <p:nvPr/>
      </p:nvGrpSpPr>
      <p:grpSpPr/>
      <p:sp>
        <p:nvSpPr>
          <p:cNvPr id="100317" name="TextBox 1"/>
          <p:cNvSpPr/>
          <p:nvPr/>
        </p:nvSpPr>
        <p:spPr>
          <a:xfrm xmlns:a="http://schemas.openxmlformats.org/drawingml/2006/main">
            <a:off x="3600000" y="540000"/>
            <a:ext cx="900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AF0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318" name="TextBox 2"/>
          <p:cNvSpPr txBox="1"/>
          <p:nvPr/>
        </p:nvSpPr>
        <p:spPr>
          <a:xfrm xmlns:a="http://schemas.openxmlformats.org/drawingml/2006/main">
            <a:off x="360000" y="720000"/>
            <a:ext cx="72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2000" b="1">
                <a:solidFill>
                  <a:srgbClr val="7F5AF0"/>
                </a:solidFill>
                <a:latin typeface="JetBrains Mono"/>
                <a:ea typeface="JetBrains Mono"/>
              </a:rPr>
              <a:t>Q &amp; A</a:t>
            </a:r>
          </a:p>
        </p:txBody>
      </p:sp>
      <p:sp>
        <p:nvSpPr>
          <p:cNvPr id="100319" name="TextBox 3"/>
          <p:cNvSpPr txBox="1"/>
          <p:nvPr/>
        </p:nvSpPr>
        <p:spPr>
          <a:xfrm xmlns:a="http://schemas.openxmlformats.org/drawingml/2006/main">
            <a:off x="360000" y="1980000"/>
            <a:ext cx="72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94A1B2"/>
                </a:solidFill>
                <a:latin typeface="Inter"/>
                <a:ea typeface="Inter"/>
              </a:rPr>
              <a:t>欢迎讨论 · 反馈 · Issue · PR</a:t>
            </a:r>
          </a:p>
        </p:txBody>
      </p:sp>
      <p:sp>
        <p:nvSpPr>
          <p:cNvPr id="100320" name="TextBox 4"/>
          <p:cNvSpPr/>
          <p:nvPr/>
        </p:nvSpPr>
        <p:spPr>
          <a:xfrm xmlns:a="http://schemas.openxmlformats.org/drawingml/2006/main">
            <a:off x="1440000" y="2700000"/>
            <a:ext cx="9313200" cy="198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 w="12700">
            <a:solidFill>
              <a:srgbClr val="2A2A35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321" name="TextBox 5"/>
          <p:cNvSpPr txBox="1"/>
          <p:nvPr/>
        </p:nvSpPr>
        <p:spPr>
          <a:xfrm xmlns:a="http://schemas.openxmlformats.org/drawingml/2006/main">
            <a:off x="1620000" y="2772000"/>
            <a:ext cx="90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7F5AF0"/>
                </a:solidFill>
                <a:latin typeface="JetBrains Mono"/>
                <a:ea typeface="JetBrains Mono"/>
              </a:rPr>
              <a:t>Resources</a:t>
            </a:r>
          </a:p>
        </p:txBody>
      </p:sp>
      <p:sp>
        <p:nvSpPr>
          <p:cNvPr id="100322" name="TextBox 6"/>
          <p:cNvSpPr txBox="1"/>
          <p:nvPr/>
        </p:nvSpPr>
        <p:spPr>
          <a:xfrm xmlns:a="http://schemas.openxmlformats.org/drawingml/2006/main">
            <a:off x="1620000" y="3024000"/>
            <a:ext cx="10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CB67D"/>
                </a:solidFill>
                <a:latin typeface="Inter"/>
                <a:ea typeface="Inter"/>
              </a:rPr>
              <a:t>Repo</a:t>
            </a:r>
          </a:p>
        </p:txBody>
      </p:sp>
      <p:sp>
        <p:nvSpPr>
          <p:cNvPr id="100323" name="TextBox 7"/>
          <p:cNvSpPr txBox="1"/>
          <p:nvPr/>
        </p:nvSpPr>
        <p:spPr>
          <a:xfrm xmlns:a="http://schemas.openxmlformats.org/drawingml/2006/main">
            <a:off x="2880000" y="3024000"/>
            <a:ext cx="75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E"/>
                </a:solidFill>
                <a:latin typeface="JetBrains Mono"/>
                <a:ea typeface="JetBrains Mono"/>
              </a:rPr>
              <a:t>github.com/st6098770633/ssh-pad-terminal</a:t>
            </a:r>
          </a:p>
        </p:txBody>
      </p:sp>
      <p:sp>
        <p:nvSpPr>
          <p:cNvPr id="100324" name="TextBox 8"/>
          <p:cNvSpPr txBox="1"/>
          <p:nvPr/>
        </p:nvSpPr>
        <p:spPr>
          <a:xfrm xmlns:a="http://schemas.openxmlformats.org/drawingml/2006/main">
            <a:off x="1620000" y="3258000"/>
            <a:ext cx="10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CB67D"/>
                </a:solidFill>
                <a:latin typeface="Inter"/>
                <a:ea typeface="Inter"/>
              </a:rPr>
              <a:t>Docs</a:t>
            </a:r>
          </a:p>
        </p:txBody>
      </p:sp>
      <p:sp>
        <p:nvSpPr>
          <p:cNvPr id="100325" name="TextBox 9"/>
          <p:cNvSpPr txBox="1"/>
          <p:nvPr/>
        </p:nvSpPr>
        <p:spPr>
          <a:xfrm xmlns:a="http://schemas.openxmlformats.org/drawingml/2006/main">
            <a:off x="2880000" y="3258000"/>
            <a:ext cx="75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README.md · implementation_plan.md · test_plan.md · docs/REVIEW_2026-06-24.md</a:t>
            </a:r>
          </a:p>
        </p:txBody>
      </p:sp>
      <p:sp>
        <p:nvSpPr>
          <p:cNvPr id="100326" name="TextBox 10"/>
          <p:cNvSpPr txBox="1"/>
          <p:nvPr/>
        </p:nvSpPr>
        <p:spPr>
          <a:xfrm xmlns:a="http://schemas.openxmlformats.org/drawingml/2006/main">
            <a:off x="1620000" y="3492000"/>
            <a:ext cx="10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CB67D"/>
                </a:solidFill>
                <a:latin typeface="Inter"/>
                <a:ea typeface="Inter"/>
              </a:rPr>
              <a:t>Owner</a:t>
            </a:r>
          </a:p>
        </p:txBody>
      </p:sp>
      <p:sp>
        <p:nvSpPr>
          <p:cNvPr id="100327" name="TextBox 11"/>
          <p:cNvSpPr txBox="1"/>
          <p:nvPr/>
        </p:nvSpPr>
        <p:spPr>
          <a:xfrm xmlns:a="http://schemas.openxmlformats.org/drawingml/2006/main">
            <a:off x="2880000" y="3492000"/>
            <a:ext cx="75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E"/>
                </a:solidFill>
                <a:latin typeface="JetBrains Mono"/>
                <a:ea typeface="JetBrains Mono"/>
              </a:rPr>
              <a:t>@st6098770633 · License TBD · private 仓库</a:t>
            </a:r>
          </a:p>
        </p:txBody>
      </p:sp>
      <p:sp>
        <p:nvSpPr>
          <p:cNvPr id="100328" name="TextBox 12"/>
          <p:cNvSpPr txBox="1"/>
          <p:nvPr/>
        </p:nvSpPr>
        <p:spPr>
          <a:xfrm xmlns:a="http://schemas.openxmlformats.org/drawingml/2006/main">
            <a:off x="1620000" y="3726000"/>
            <a:ext cx="10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CB67D"/>
                </a:solidFill>
                <a:latin typeface="Inter"/>
                <a:ea typeface="Inter"/>
              </a:rPr>
              <a:t>Run</a:t>
            </a:r>
          </a:p>
        </p:txBody>
      </p:sp>
      <p:sp>
        <p:nvSpPr>
          <p:cNvPr id="100329" name="TextBox 13"/>
          <p:cNvSpPr txBox="1"/>
          <p:nvPr/>
        </p:nvSpPr>
        <p:spPr>
          <a:xfrm xmlns:a="http://schemas.openxmlformats.org/drawingml/2006/main">
            <a:off x="2880000" y="3726000"/>
            <a:ext cx="756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1B2"/>
                </a:solidFill>
                <a:latin typeface="JetBrains Mono"/>
                <a:ea typeface="JetBrains Mono"/>
              </a:rPr>
              <a:t>./gradlew :app:testDebugUnitTest   # 测试</a:t>
            </a:r>
          </a:p>
        </p:txBody>
      </p:sp>
      <p:sp>
        <p:nvSpPr>
          <p:cNvPr id="100330" name="TextBox 14"/>
          <p:cNvSpPr txBox="1"/>
          <p:nvPr/>
        </p:nvSpPr>
        <p:spPr>
          <a:xfrm xmlns:a="http://schemas.openxmlformats.org/drawingml/2006/main">
            <a:off x="2880000" y="3870000"/>
            <a:ext cx="756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1B2"/>
                </a:solidFill>
                <a:latin typeface="JetBrains Mono"/>
                <a:ea typeface="JetBrains Mono"/>
              </a:rPr>
              <a:t>./gradlew :app:assembleDebug        # 出包</a:t>
            </a:r>
          </a:p>
        </p:txBody>
      </p:sp>
      <p:sp>
        <p:nvSpPr>
          <p:cNvPr id="100331" name="TextBox 15"/>
          <p:cNvSpPr txBox="1"/>
          <p:nvPr/>
        </p:nvSpPr>
        <p:spPr>
          <a:xfrm xmlns:a="http://schemas.openxmlformats.org/drawingml/2006/main">
            <a:off x="2880000" y="4014000"/>
            <a:ext cx="756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4A1B2"/>
                </a:solidFill>
                <a:latin typeface="JetBrains Mono"/>
                <a:ea typeface="JetBrains Mono"/>
              </a:rPr>
              <a:t>./gradlew :app:installDebug        # 安装</a:t>
            </a:r>
          </a:p>
        </p:txBody>
      </p:sp>
      <p:sp>
        <p:nvSpPr>
          <p:cNvPr id="100332" name="TextBox 16"/>
          <p:cNvSpPr txBox="1"/>
          <p:nvPr/>
        </p:nvSpPr>
        <p:spPr>
          <a:xfrm xmlns:a="http://schemas.openxmlformats.org/drawingml/2006/main">
            <a:off x="360000" y="5220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7F5AF0"/>
                </a:solidFill>
                <a:latin typeface="JetBrains Mono"/>
                <a:ea typeface="JetBrains Mono"/>
              </a:rPr>
              <a:t>Thanks.</a:t>
            </a:r>
          </a:p>
        </p:txBody>
      </p:sp>
      <p:sp>
        <p:nvSpPr>
          <p:cNvPr id="100333" name="TextBox 17"/>
          <p:cNvSpPr txBox="1"/>
          <p:nvPr/>
        </p:nvSpPr>
        <p:spPr>
          <a:xfrm xmlns:a="http://schemas.openxmlformats.org/drawingml/2006/main">
            <a:off x="360000" y="5508000"/>
            <a:ext cx="72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1200" i="1">
                <a:solidFill>
                  <a:srgbClr val="94A1B2"/>
                </a:solidFill>
                <a:latin typeface="Inter"/>
                <a:ea typeface="Inter"/>
              </a:rPr>
              <a:t>st6098770633 · 2026-06-24 · 献给所有在平板上被中文 IME 折磨过的开发者</a:t>
            </a:r>
          </a:p>
        </p:txBody>
      </p:sp>
      <p:sp>
        <p:nvSpPr>
          <p:cNvPr id="100334" name="TextBox 18"/>
          <p:cNvSpPr txBox="1"/>
          <p:nvPr/>
        </p:nvSpPr>
        <p:spPr>
          <a:xfrm xmlns:a="http://schemas.openxmlformats.org/drawingml/2006/main">
            <a:off x="10440000" y="6480000"/>
            <a:ext cx="14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6E7681"/>
                </a:solidFill>
                <a:latin typeface="JetBrains Mono"/>
                <a:ea typeface="JetBrains Mono"/>
              </a:rPr>
              <a:t>12 / 12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OfficeCLI/1.0.120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2026-06-24T12:07:30Z</dcterms:created>
  <cp:lastModifiedBy>OfficeCLI</cp:lastModifiedBy>
  <dcterms:modified xsi:type="dcterms:W3CDTF">2026-06-24T12:07:30Z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1.0.120</vt:lpwstr>
  </op:property>
  <op:property fmtid="{D5CDD505-2E9C-101B-9397-08002B2CF9AE}" pid="3" name="OfficeCLI.LastModified">
    <vt:lpwstr xmlns:vt="http://schemas.openxmlformats.org/officeDocument/2006/docPropsVTypes">2026-06-24T12:32:22Z</vt:lpwstr>
  </op:property>
</op:Properties>
</file>